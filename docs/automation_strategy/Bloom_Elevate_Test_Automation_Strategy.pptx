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5a9a67ca-e034-cc3c-fa66-6e46ac4e17dd}">
          <p14:sldIdLst>
            <p14:sldId id="256"/>
            <p14:sldId id="257"/>
          </p14:sldIdLst>
        </p14:section>
        <p14:section name="The application" id="{2a6c6753-9fc6-153b-c6d9-215c6fe8d621}">
          <p14:sldIdLst>
            <p14:sldId id="258"/>
            <p14:sldId id="259"/>
            <p14:sldId id="260"/>
          </p14:sldIdLst>
        </p14:section>
        <p14:section name="Strategy" id="{fdea095a-a8e5-f2d4-7056-486b61d02296}">
          <p14:sldIdLst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Delivery" id="{cd296d86-a7ec-1598-f792-d488625ad7f8}">
          <p14:sldIdLst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agree the automation strategy before scaling up. The content is based on a hands-on, read-only exploration of the test environment plus the framework already built.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outcomes the client cares about. The multi-role point matters most: the New Project Request passes through buyer, Bloom Ops and approvers.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Explored as a Project Owner (buyer). Project detail is highlighted because it is where the lifecycle is driven.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Observed on a submitted project: six Bloom Ops tasks follow submission. Highly conditional forms (100+ fields) make this the highest-value area to automate.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client has confirmed accounts for all roles will be available. Each role runs in its own browser context.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P1 is the New Project Request journey end to end, including approvals. P2 and P3 follow once P1 is stable.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Smoke protects every change; nightly runs carry the long multi-role journeys. API set-up keeps tests independent of each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structure is already in place (Phase 0). Tests never touch locators directly; page objects own them, which keeps maintenance in one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rules came out of real issues found on this app, e.g. the milestone progress indicator refreshes after Next, so tests wait for it to settle.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shared test environment accumulates drafts and queries today; unique IDs plus API clean-up keep runs independent and the environment tidy.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 platform to be agreed with the client (GitHub Actions or Azure DevOps both fit). Chromium gates every change; the full matrix runs nightly.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findings came from the exploration. The single biggest stability win from the dev team would be data-testid attributes on form controls.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0 is complete. Weeks are counted from approval and assume role accounts are available at the start of Phase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asking for approval of the roadmap and the five items. Phase 1 can start as soon as approval is given.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600200"/>
            <a:ext cx="65836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20440"/>
            <a:ext cx="65836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50292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Bloom Elevate Marketplace  ·  Test Automation Strategy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600200"/>
            <a:ext cx="6583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Test Automation Strategy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2044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5"/>
                </a:solidFill>
              </a:rPr>
              <a:t>Bloom Elevate Marketplace</a:t>
            </a:r>
            <a:endParaRPr lang="en-US" sz="2200" dirty="0"/>
          </a:p>
        </p:txBody>
      </p:sp>
      <p:sp>
        <p:nvSpPr>
          <p:cNvPr id="4" name="Tagline"/>
          <p:cNvSpPr txBox="1"/>
          <p:nvPr/>
        </p:nvSpPr>
        <p:spPr>
          <a:xfrm>
            <a:off x="731520" y="43434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 phased plan to automate the buyer, approval and Bloom Ops journeys with Playwright, Python and Pytest</a:t>
            </a:r>
            <a:endParaRPr lang="en-US" sz="1600" dirty="0"/>
          </a:p>
        </p:txBody>
      </p:sp>
      <p:sp>
        <p:nvSpPr>
          <p:cNvPr id="5" name="Date"/>
          <p:cNvSpPr txBox="1"/>
          <p:nvPr/>
        </p:nvSpPr>
        <p:spPr>
          <a:xfrm>
            <a:off x="731520" y="5760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October 2026  ·  For client review</a:t>
            </a:r>
            <a:endParaRPr lang="en-US" sz="1400" dirty="0"/>
          </a:p>
        </p:txBody>
      </p:sp>
      <p:sp>
        <p:nvSpPr>
          <p:cNvPr id="6" name="Motif projects circle"/>
          <p:cNvSpPr/>
          <p:nvPr/>
        </p:nvSpPr>
        <p:spPr>
          <a:xfrm>
            <a:off x="8503920" y="1097280"/>
            <a:ext cx="1737360" cy="1737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Motif project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8260" y="1531620"/>
            <a:ext cx="868680" cy="868680"/>
          </a:xfrm>
          <a:prstGeom prst="rect">
            <a:avLst/>
          </a:prstGeom>
        </p:spPr>
      </p:pic>
      <p:sp>
        <p:nvSpPr>
          <p:cNvPr id="8" name="Motif automation circle"/>
          <p:cNvSpPr/>
          <p:nvPr/>
        </p:nvSpPr>
        <p:spPr>
          <a:xfrm>
            <a:off x="9921240" y="2743200"/>
            <a:ext cx="1417320" cy="1417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Motif automation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5570" y="3097530"/>
            <a:ext cx="708660" cy="708660"/>
          </a:xfrm>
          <a:prstGeom prst="rect">
            <a:avLst/>
          </a:prstGeom>
        </p:spPr>
      </p:pic>
      <p:sp>
        <p:nvSpPr>
          <p:cNvPr id="10" name="Motif roles circle"/>
          <p:cNvSpPr/>
          <p:nvPr/>
        </p:nvSpPr>
        <p:spPr>
          <a:xfrm>
            <a:off x="8001000" y="3246120"/>
            <a:ext cx="1143000" cy="11430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Motif roles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0" y="3531870"/>
            <a:ext cx="571500" cy="571500"/>
          </a:xfrm>
          <a:prstGeom prst="rect">
            <a:avLst/>
          </a:prstGeom>
        </p:spPr>
      </p:pic>
      <p:sp>
        <p:nvSpPr>
          <p:cNvPr id="12" name="Motif check circle"/>
          <p:cNvSpPr/>
          <p:nvPr/>
        </p:nvSpPr>
        <p:spPr>
          <a:xfrm>
            <a:off x="9418320" y="4572000"/>
            <a:ext cx="868680" cy="8686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3" name="Motif check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5490" y="4789170"/>
            <a:ext cx="434340" cy="4343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What automation will deliver</a:t>
            </a:r>
            <a:endParaRPr lang="en-US" sz="3400" dirty="0"/>
          </a:p>
        </p:txBody>
      </p:sp>
      <p:sp>
        <p:nvSpPr>
          <p:cNvPr id="3" name="Objective card 1"/>
          <p:cNvSpPr/>
          <p:nvPr/>
        </p:nvSpPr>
        <p:spPr>
          <a:xfrm>
            <a:off x="548640" y="1463040"/>
            <a:ext cx="544068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Objective 1 circle"/>
          <p:cNvSpPr/>
          <p:nvPr/>
        </p:nvSpPr>
        <p:spPr>
          <a:xfrm>
            <a:off x="868680" y="182880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Objective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434340" cy="434340"/>
          </a:xfrm>
          <a:prstGeom prst="rect">
            <a:avLst/>
          </a:prstGeom>
        </p:spPr>
      </p:pic>
      <p:sp>
        <p:nvSpPr>
          <p:cNvPr id="6" name="Objective title 1"/>
          <p:cNvSpPr txBox="1"/>
          <p:nvPr/>
        </p:nvSpPr>
        <p:spPr>
          <a:xfrm>
            <a:off x="1965960" y="184708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 regression</a:t>
            </a:r>
            <a:endParaRPr lang="en-US" sz="2200" dirty="0"/>
          </a:p>
        </p:txBody>
      </p:sp>
      <p:sp>
        <p:nvSpPr>
          <p:cNvPr id="7" name="Objective text 1"/>
          <p:cNvSpPr txBox="1"/>
          <p:nvPr/>
        </p:nvSpPr>
        <p:spPr>
          <a:xfrm>
            <a:off x="1965960" y="23774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Run the full buyer journey on every build in minutes instead of days of manual checks</a:t>
            </a:r>
            <a:endParaRPr lang="en-US" sz="1600" dirty="0"/>
          </a:p>
        </p:txBody>
      </p:sp>
      <p:sp>
        <p:nvSpPr>
          <p:cNvPr id="8" name="Objective card 2"/>
          <p:cNvSpPr/>
          <p:nvPr/>
        </p:nvSpPr>
        <p:spPr>
          <a:xfrm>
            <a:off x="6172200" y="1463040"/>
            <a:ext cx="544068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Objective 2 circle"/>
          <p:cNvSpPr/>
          <p:nvPr/>
        </p:nvSpPr>
        <p:spPr>
          <a:xfrm>
            <a:off x="6492240" y="182880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Objective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9410" y="2045970"/>
            <a:ext cx="434340" cy="434340"/>
          </a:xfrm>
          <a:prstGeom prst="rect">
            <a:avLst/>
          </a:prstGeom>
        </p:spPr>
      </p:pic>
      <p:sp>
        <p:nvSpPr>
          <p:cNvPr id="11" name="Objective title 2"/>
          <p:cNvSpPr txBox="1"/>
          <p:nvPr/>
        </p:nvSpPr>
        <p:spPr>
          <a:xfrm>
            <a:off x="7589520" y="184708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 confidence</a:t>
            </a:r>
            <a:endParaRPr lang="en-US" sz="2200" dirty="0"/>
          </a:p>
        </p:txBody>
      </p:sp>
      <p:sp>
        <p:nvSpPr>
          <p:cNvPr id="12" name="Objective text 2"/>
          <p:cNvSpPr txBox="1"/>
          <p:nvPr/>
        </p:nvSpPr>
        <p:spPr>
          <a:xfrm>
            <a:off x="7589520" y="23774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Catch form and workflow regressions before they reach buyers and suppliers</a:t>
            </a:r>
            <a:endParaRPr lang="en-US" sz="1600" dirty="0"/>
          </a:p>
        </p:txBody>
      </p:sp>
      <p:sp>
        <p:nvSpPr>
          <p:cNvPr id="13" name="Objective card 3"/>
          <p:cNvSpPr/>
          <p:nvPr/>
        </p:nvSpPr>
        <p:spPr>
          <a:xfrm>
            <a:off x="548640" y="3840480"/>
            <a:ext cx="544068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4" name="Objective 3 circle"/>
          <p:cNvSpPr/>
          <p:nvPr/>
        </p:nvSpPr>
        <p:spPr>
          <a:xfrm>
            <a:off x="868680" y="420624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Objective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50" y="4423410"/>
            <a:ext cx="434340" cy="434340"/>
          </a:xfrm>
          <a:prstGeom prst="rect">
            <a:avLst/>
          </a:prstGeom>
        </p:spPr>
      </p:pic>
      <p:sp>
        <p:nvSpPr>
          <p:cNvPr id="16" name="Objective title 3"/>
          <p:cNvSpPr txBox="1"/>
          <p:nvPr/>
        </p:nvSpPr>
        <p:spPr>
          <a:xfrm>
            <a:off x="1965960" y="42245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End-to-end, every role</a:t>
            </a:r>
            <a:endParaRPr lang="en-US" sz="2200" dirty="0"/>
          </a:p>
        </p:txBody>
      </p:sp>
      <p:sp>
        <p:nvSpPr>
          <p:cNvPr id="17" name="Objective text 3"/>
          <p:cNvSpPr txBox="1"/>
          <p:nvPr/>
        </p:nvSpPr>
        <p:spPr>
          <a:xfrm>
            <a:off x="1965960" y="47548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Cover buyer, approver and Bloom Ops hand-offs in one connected journey</a:t>
            </a:r>
            <a:endParaRPr lang="en-US" sz="1600" dirty="0"/>
          </a:p>
        </p:txBody>
      </p:sp>
      <p:sp>
        <p:nvSpPr>
          <p:cNvPr id="18" name="Objective card 4"/>
          <p:cNvSpPr/>
          <p:nvPr/>
        </p:nvSpPr>
        <p:spPr>
          <a:xfrm>
            <a:off x="6172200" y="3840480"/>
            <a:ext cx="544068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9" name="Objective 4 circle"/>
          <p:cNvSpPr/>
          <p:nvPr/>
        </p:nvSpPr>
        <p:spPr>
          <a:xfrm>
            <a:off x="6492240" y="420624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Objective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9410" y="4423410"/>
            <a:ext cx="434340" cy="434340"/>
          </a:xfrm>
          <a:prstGeom prst="rect">
            <a:avLst/>
          </a:prstGeom>
        </p:spPr>
      </p:pic>
      <p:sp>
        <p:nvSpPr>
          <p:cNvPr id="21" name="Objective title 4"/>
          <p:cNvSpPr txBox="1"/>
          <p:nvPr/>
        </p:nvSpPr>
        <p:spPr>
          <a:xfrm>
            <a:off x="7589520" y="42245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 manual effort</a:t>
            </a:r>
            <a:endParaRPr lang="en-US" sz="2200" dirty="0"/>
          </a:p>
        </p:txBody>
      </p:sp>
      <p:sp>
        <p:nvSpPr>
          <p:cNvPr id="22" name="Objective text 4"/>
          <p:cNvSpPr txBox="1"/>
          <p:nvPr/>
        </p:nvSpPr>
        <p:spPr>
          <a:xfrm>
            <a:off x="7589520" y="47548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Free testers for exploratory and user-experience testing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Application landscape we explored</a:t>
            </a:r>
            <a:endParaRPr lang="en-US" sz="3400" dirty="0"/>
          </a:p>
        </p:txBody>
      </p:sp>
      <p:sp>
        <p:nvSpPr>
          <p:cNvPr id="3" name="Module card 1"/>
          <p:cNvSpPr/>
          <p:nvPr/>
        </p:nvSpPr>
        <p:spPr>
          <a:xfrm>
            <a:off x="548640" y="141732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6E6DE"/>
            </a:solidFill>
            <a:prstDash val="solid"/>
          </a:ln>
          <a:effectLst>
            <a:outerShdw sx="100000" sy="100000" kx="0" ky="0" algn="bl" rotWithShape="0" blurRad="76200" dist="25400" dir="5400000">
              <a:srgbClr val="0E3B34">
                <a:alpha val="12000"/>
              </a:srgbClr>
            </a:outerShdw>
          </a:effectLst>
        </p:spPr>
      </p:sp>
      <p:sp>
        <p:nvSpPr>
          <p:cNvPr id="4" name="Module 1 circle"/>
          <p:cNvSpPr/>
          <p:nvPr/>
        </p:nvSpPr>
        <p:spPr>
          <a:xfrm>
            <a:off x="822960" y="169164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Module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874520"/>
            <a:ext cx="365760" cy="365760"/>
          </a:xfrm>
          <a:prstGeom prst="rect">
            <a:avLst/>
          </a:prstGeom>
        </p:spPr>
      </p:pic>
      <p:sp>
        <p:nvSpPr>
          <p:cNvPr id="6" name="Module title 1"/>
          <p:cNvSpPr txBox="1"/>
          <p:nvPr/>
        </p:nvSpPr>
        <p:spPr>
          <a:xfrm>
            <a:off x="1737360" y="180136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2000" dirty="0"/>
          </a:p>
        </p:txBody>
      </p:sp>
      <p:sp>
        <p:nvSpPr>
          <p:cNvPr id="7" name="Module text 1"/>
          <p:cNvSpPr txBox="1"/>
          <p:nvPr/>
        </p:nvSpPr>
        <p:spPr>
          <a:xfrm>
            <a:off x="822960" y="25603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KPI tiles for projects, tasks and queries, my-task list, spend and end-date widgets</a:t>
            </a:r>
            <a:endParaRPr lang="en-US" sz="1400" dirty="0"/>
          </a:p>
        </p:txBody>
      </p:sp>
      <p:sp>
        <p:nvSpPr>
          <p:cNvPr id="8" name="Module card 2"/>
          <p:cNvSpPr/>
          <p:nvPr/>
        </p:nvSpPr>
        <p:spPr>
          <a:xfrm>
            <a:off x="4297680" y="141732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6E6DE"/>
            </a:solidFill>
            <a:prstDash val="solid"/>
          </a:ln>
          <a:effectLst>
            <a:outerShdw sx="100000" sy="100000" kx="0" ky="0" algn="bl" rotWithShape="0" blurRad="76200" dist="25400" dir="5400000">
              <a:srgbClr val="0E3B34">
                <a:alpha val="12000"/>
              </a:srgbClr>
            </a:outerShdw>
          </a:effectLst>
        </p:spPr>
      </p:sp>
      <p:sp>
        <p:nvSpPr>
          <p:cNvPr id="9" name="Module 2 circle"/>
          <p:cNvSpPr/>
          <p:nvPr/>
        </p:nvSpPr>
        <p:spPr>
          <a:xfrm>
            <a:off x="4572000" y="169164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Module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74520"/>
            <a:ext cx="365760" cy="365760"/>
          </a:xfrm>
          <a:prstGeom prst="rect">
            <a:avLst/>
          </a:prstGeom>
        </p:spPr>
      </p:pic>
      <p:sp>
        <p:nvSpPr>
          <p:cNvPr id="11" name="Module title 2"/>
          <p:cNvSpPr txBox="1"/>
          <p:nvPr/>
        </p:nvSpPr>
        <p:spPr>
          <a:xfrm>
            <a:off x="5486400" y="180136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Projects</a:t>
            </a:r>
            <a:endParaRPr lang="en-US" sz="2000" dirty="0"/>
          </a:p>
        </p:txBody>
      </p:sp>
      <p:sp>
        <p:nvSpPr>
          <p:cNvPr id="12" name="Module text 2"/>
          <p:cNvSpPr txBox="1"/>
          <p:nvPr/>
        </p:nvSpPr>
        <p:spPr>
          <a:xfrm>
            <a:off x="4572000" y="25603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Search and filter by status, stage and supplier; paginated project list</a:t>
            </a:r>
            <a:endParaRPr lang="en-US" sz="1400" dirty="0"/>
          </a:p>
        </p:txBody>
      </p:sp>
      <p:sp>
        <p:nvSpPr>
          <p:cNvPr id="13" name="Module card 3"/>
          <p:cNvSpPr/>
          <p:nvPr/>
        </p:nvSpPr>
        <p:spPr>
          <a:xfrm>
            <a:off x="8046720" y="141732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6E6DE"/>
            </a:solidFill>
            <a:prstDash val="solid"/>
          </a:ln>
          <a:effectLst>
            <a:outerShdw sx="100000" sy="100000" kx="0" ky="0" algn="bl" rotWithShape="0" blurRad="76200" dist="25400" dir="5400000">
              <a:srgbClr val="0E3B34">
                <a:alpha val="12000"/>
              </a:srgbClr>
            </a:outerShdw>
          </a:effectLst>
        </p:spPr>
      </p:sp>
      <p:sp>
        <p:nvSpPr>
          <p:cNvPr id="14" name="Module 3 circle"/>
          <p:cNvSpPr/>
          <p:nvPr/>
        </p:nvSpPr>
        <p:spPr>
          <a:xfrm>
            <a:off x="8321040" y="169164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Module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874520"/>
            <a:ext cx="365760" cy="365760"/>
          </a:xfrm>
          <a:prstGeom prst="rect">
            <a:avLst/>
          </a:prstGeom>
        </p:spPr>
      </p:pic>
      <p:sp>
        <p:nvSpPr>
          <p:cNvPr id="16" name="Module title 3"/>
          <p:cNvSpPr txBox="1"/>
          <p:nvPr/>
        </p:nvSpPr>
        <p:spPr>
          <a:xfrm>
            <a:off x="9235440" y="180136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detail</a:t>
            </a:r>
            <a:endParaRPr lang="en-US" sz="2000" dirty="0"/>
          </a:p>
        </p:txBody>
      </p:sp>
      <p:sp>
        <p:nvSpPr>
          <p:cNvPr id="17" name="Module text 3"/>
          <p:cNvSpPr txBox="1"/>
          <p:nvPr/>
        </p:nvSpPr>
        <p:spPr>
          <a:xfrm>
            <a:off x="8321040" y="25603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Stage tracker, milestone tasks, specification, documents, queries and history</a:t>
            </a:r>
            <a:endParaRPr lang="en-US" sz="1400" dirty="0"/>
          </a:p>
        </p:txBody>
      </p:sp>
      <p:sp>
        <p:nvSpPr>
          <p:cNvPr id="18" name="Module card 4"/>
          <p:cNvSpPr/>
          <p:nvPr/>
        </p:nvSpPr>
        <p:spPr>
          <a:xfrm>
            <a:off x="548640" y="379476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6E6DE"/>
            </a:solidFill>
            <a:prstDash val="solid"/>
          </a:ln>
          <a:effectLst>
            <a:outerShdw sx="100000" sy="100000" kx="0" ky="0" algn="bl" rotWithShape="0" blurRad="76200" dist="25400" dir="5400000">
              <a:srgbClr val="0E3B34">
                <a:alpha val="12000"/>
              </a:srgbClr>
            </a:outerShdw>
          </a:effectLst>
        </p:spPr>
      </p:sp>
      <p:sp>
        <p:nvSpPr>
          <p:cNvPr id="19" name="Module 4 circle"/>
          <p:cNvSpPr/>
          <p:nvPr/>
        </p:nvSpPr>
        <p:spPr>
          <a:xfrm>
            <a:off x="822960" y="40690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Module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251960"/>
            <a:ext cx="365760" cy="365760"/>
          </a:xfrm>
          <a:prstGeom prst="rect">
            <a:avLst/>
          </a:prstGeom>
        </p:spPr>
      </p:pic>
      <p:sp>
        <p:nvSpPr>
          <p:cNvPr id="21" name="Module title 4"/>
          <p:cNvSpPr txBox="1"/>
          <p:nvPr/>
        </p:nvSpPr>
        <p:spPr>
          <a:xfrm>
            <a:off x="1737360" y="417880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Tasks &amp; Queries</a:t>
            </a:r>
            <a:endParaRPr lang="en-US" sz="2000" dirty="0"/>
          </a:p>
        </p:txBody>
      </p:sp>
      <p:sp>
        <p:nvSpPr>
          <p:cNvPr id="22" name="Module text 4"/>
          <p:cNvSpPr txBox="1"/>
          <p:nvPr/>
        </p:nvSpPr>
        <p:spPr>
          <a:xfrm>
            <a:off x="822960" y="49377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Task lists by stage; raise, track and respond to queries</a:t>
            </a:r>
            <a:endParaRPr lang="en-US" sz="1400" dirty="0"/>
          </a:p>
        </p:txBody>
      </p:sp>
      <p:sp>
        <p:nvSpPr>
          <p:cNvPr id="23" name="Module card 5"/>
          <p:cNvSpPr/>
          <p:nvPr/>
        </p:nvSpPr>
        <p:spPr>
          <a:xfrm>
            <a:off x="4297680" y="379476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6E6DE"/>
            </a:solidFill>
            <a:prstDash val="solid"/>
          </a:ln>
          <a:effectLst>
            <a:outerShdw sx="100000" sy="100000" kx="0" ky="0" algn="bl" rotWithShape="0" blurRad="76200" dist="25400" dir="5400000">
              <a:srgbClr val="0E3B34">
                <a:alpha val="12000"/>
              </a:srgbClr>
            </a:outerShdw>
          </a:effectLst>
        </p:spPr>
      </p:sp>
      <p:sp>
        <p:nvSpPr>
          <p:cNvPr id="24" name="Module 5 circle"/>
          <p:cNvSpPr/>
          <p:nvPr/>
        </p:nvSpPr>
        <p:spPr>
          <a:xfrm>
            <a:off x="4572000" y="40690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Module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4251960"/>
            <a:ext cx="365760" cy="365760"/>
          </a:xfrm>
          <a:prstGeom prst="rect">
            <a:avLst/>
          </a:prstGeom>
        </p:spPr>
      </p:pic>
      <p:sp>
        <p:nvSpPr>
          <p:cNvPr id="26" name="Module title 5"/>
          <p:cNvSpPr txBox="1"/>
          <p:nvPr/>
        </p:nvSpPr>
        <p:spPr>
          <a:xfrm>
            <a:off x="5486400" y="417880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Invoices</a:t>
            </a:r>
            <a:endParaRPr lang="en-US" sz="2000" dirty="0"/>
          </a:p>
        </p:txBody>
      </p:sp>
      <p:sp>
        <p:nvSpPr>
          <p:cNvPr id="27" name="Module text 5"/>
          <p:cNvSpPr txBox="1"/>
          <p:nvPr/>
        </p:nvSpPr>
        <p:spPr>
          <a:xfrm>
            <a:off x="4572000" y="49377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Invoice list with sorting and paging</a:t>
            </a:r>
            <a:endParaRPr lang="en-US" sz="1400" dirty="0"/>
          </a:p>
        </p:txBody>
      </p:sp>
      <p:sp>
        <p:nvSpPr>
          <p:cNvPr id="28" name="Module card 6"/>
          <p:cNvSpPr/>
          <p:nvPr/>
        </p:nvSpPr>
        <p:spPr>
          <a:xfrm>
            <a:off x="8046720" y="379476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6E6DE"/>
            </a:solidFill>
            <a:prstDash val="solid"/>
          </a:ln>
          <a:effectLst>
            <a:outerShdw sx="100000" sy="100000" kx="0" ky="0" algn="bl" rotWithShape="0" blurRad="76200" dist="25400" dir="5400000">
              <a:srgbClr val="0E3B34">
                <a:alpha val="12000"/>
              </a:srgbClr>
            </a:outerShdw>
          </a:effectLst>
        </p:spPr>
      </p:sp>
      <p:sp>
        <p:nvSpPr>
          <p:cNvPr id="29" name="Module 6 circle"/>
          <p:cNvSpPr/>
          <p:nvPr/>
        </p:nvSpPr>
        <p:spPr>
          <a:xfrm>
            <a:off x="8321040" y="40690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Module 6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4251960"/>
            <a:ext cx="365760" cy="365760"/>
          </a:xfrm>
          <a:prstGeom prst="rect">
            <a:avLst/>
          </a:prstGeom>
        </p:spPr>
      </p:pic>
      <p:sp>
        <p:nvSpPr>
          <p:cNvPr id="31" name="Module title 6"/>
          <p:cNvSpPr txBox="1"/>
          <p:nvPr/>
        </p:nvSpPr>
        <p:spPr>
          <a:xfrm>
            <a:off x="9235440" y="417880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Organisation</a:t>
            </a:r>
            <a:endParaRPr lang="en-US" sz="2000" dirty="0"/>
          </a:p>
        </p:txBody>
      </p:sp>
      <p:sp>
        <p:nvSpPr>
          <p:cNvPr id="32" name="Module text 6"/>
          <p:cNvSpPr txBox="1"/>
          <p:nvPr/>
        </p:nvSpPr>
        <p:spPr>
          <a:xfrm>
            <a:off x="8321040" y="49377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Company details, users, finance settings and documents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Core journey: New Project Request lifecycle</a:t>
            </a:r>
            <a:endParaRPr lang="en-US" sz="3400" dirty="0"/>
          </a:p>
        </p:txBody>
      </p:sp>
      <p:sp>
        <p:nvSpPr>
          <p:cNvPr id="3" name="Row 1 label"/>
          <p:cNvSpPr txBox="1"/>
          <p:nvPr/>
        </p:nvSpPr>
        <p:spPr>
          <a:xfrm>
            <a:off x="548640" y="1234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1  Buyer completes the draft in six milestones</a:t>
            </a:r>
            <a:endParaRPr lang="en-US" sz="1600" dirty="0"/>
          </a:p>
        </p:txBody>
      </p:sp>
      <p:sp>
        <p:nvSpPr>
          <p:cNvPr id="4" name="Milestone 1"/>
          <p:cNvSpPr/>
          <p:nvPr/>
        </p:nvSpPr>
        <p:spPr>
          <a:xfrm>
            <a:off x="548640" y="1645920"/>
            <a:ext cx="1920240" cy="86868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Milestone label 1"/>
          <p:cNvSpPr txBox="1"/>
          <p:nvPr/>
        </p:nvSpPr>
        <p:spPr>
          <a:xfrm>
            <a:off x="896112" y="164592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Requirement Overview</a:t>
            </a:r>
            <a:endParaRPr lang="en-US" sz="1300" dirty="0"/>
          </a:p>
        </p:txBody>
      </p:sp>
      <p:sp>
        <p:nvSpPr>
          <p:cNvPr id="6" name="Milestone 2"/>
          <p:cNvSpPr/>
          <p:nvPr/>
        </p:nvSpPr>
        <p:spPr>
          <a:xfrm>
            <a:off x="2377440" y="1645920"/>
            <a:ext cx="1920240" cy="86868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" name="Milestone label 2"/>
          <p:cNvSpPr txBox="1"/>
          <p:nvPr/>
        </p:nvSpPr>
        <p:spPr>
          <a:xfrm>
            <a:off x="2724912" y="164592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Project Stakeholders</a:t>
            </a:r>
            <a:endParaRPr lang="en-US" sz="1300" dirty="0"/>
          </a:p>
        </p:txBody>
      </p:sp>
      <p:sp>
        <p:nvSpPr>
          <p:cNvPr id="8" name="Milestone 3"/>
          <p:cNvSpPr/>
          <p:nvPr/>
        </p:nvSpPr>
        <p:spPr>
          <a:xfrm>
            <a:off x="4206240" y="1645920"/>
            <a:ext cx="1920240" cy="86868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Milestone label 3"/>
          <p:cNvSpPr txBox="1"/>
          <p:nvPr/>
        </p:nvSpPr>
        <p:spPr>
          <a:xfrm>
            <a:off x="4553712" y="164592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Project Details</a:t>
            </a:r>
            <a:endParaRPr lang="en-US" sz="1300" dirty="0"/>
          </a:p>
        </p:txBody>
      </p:sp>
      <p:sp>
        <p:nvSpPr>
          <p:cNvPr id="10" name="Milestone 4"/>
          <p:cNvSpPr/>
          <p:nvPr/>
        </p:nvSpPr>
        <p:spPr>
          <a:xfrm>
            <a:off x="6035040" y="1645920"/>
            <a:ext cx="1920240" cy="86868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1" name="Milestone label 4"/>
          <p:cNvSpPr txBox="1"/>
          <p:nvPr/>
        </p:nvSpPr>
        <p:spPr>
          <a:xfrm>
            <a:off x="6382512" y="164592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Procurement Route</a:t>
            </a:r>
            <a:endParaRPr lang="en-US" sz="1300" dirty="0"/>
          </a:p>
        </p:txBody>
      </p:sp>
      <p:sp>
        <p:nvSpPr>
          <p:cNvPr id="12" name="Milestone 5"/>
          <p:cNvSpPr/>
          <p:nvPr/>
        </p:nvSpPr>
        <p:spPr>
          <a:xfrm>
            <a:off x="7863840" y="1645920"/>
            <a:ext cx="1920240" cy="86868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Milestone label 5"/>
          <p:cNvSpPr txBox="1"/>
          <p:nvPr/>
        </p:nvSpPr>
        <p:spPr>
          <a:xfrm>
            <a:off x="8211312" y="164592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Compliance</a:t>
            </a:r>
            <a:endParaRPr lang="en-US" sz="1300" dirty="0"/>
          </a:p>
        </p:txBody>
      </p:sp>
      <p:sp>
        <p:nvSpPr>
          <p:cNvPr id="14" name="Milestone 6"/>
          <p:cNvSpPr/>
          <p:nvPr/>
        </p:nvSpPr>
        <p:spPr>
          <a:xfrm>
            <a:off x="9692640" y="1645920"/>
            <a:ext cx="1920240" cy="868680"/>
          </a:xfrm>
          <a:prstGeom prst="chevron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5" name="Milestone label 6"/>
          <p:cNvSpPr txBox="1"/>
          <p:nvPr/>
        </p:nvSpPr>
        <p:spPr>
          <a:xfrm>
            <a:off x="10040112" y="164592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Summary &amp; Submit</a:t>
            </a:r>
            <a:endParaRPr lang="en-US" sz="1300" dirty="0"/>
          </a:p>
        </p:txBody>
      </p:sp>
      <p:sp>
        <p:nvSpPr>
          <p:cNvPr id="16" name="Row 2 label"/>
          <p:cNvSpPr txBox="1"/>
          <p:nvPr/>
        </p:nvSpPr>
        <p:spPr>
          <a:xfrm>
            <a:off x="54864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2  Bloom Ops reviews, clarifies and approves</a:t>
            </a:r>
            <a:endParaRPr lang="en-US" sz="1600" dirty="0"/>
          </a:p>
        </p:txBody>
      </p:sp>
      <p:sp>
        <p:nvSpPr>
          <p:cNvPr id="17" name="Ops task 1"/>
          <p:cNvSpPr/>
          <p:nvPr/>
        </p:nvSpPr>
        <p:spPr>
          <a:xfrm>
            <a:off x="548640" y="3154680"/>
            <a:ext cx="1737360" cy="960120"/>
          </a:xfrm>
          <a:prstGeom prst="roundRect">
            <a:avLst>
              <a:gd name="adj" fmla="val 11429"/>
            </a:avLst>
          </a:prstGeom>
          <a:solidFill>
            <a:srgbClr val="E7EEF6"/>
          </a:solidFill>
          <a:ln w="9525">
            <a:solidFill>
              <a:srgbClr val="3A6EA5"/>
            </a:solidFill>
            <a:prstDash val="solid"/>
          </a:ln>
        </p:spPr>
      </p:sp>
      <p:sp>
        <p:nvSpPr>
          <p:cNvPr id="18" name="Ops task name 1"/>
          <p:cNvSpPr txBox="1"/>
          <p:nvPr/>
        </p:nvSpPr>
        <p:spPr>
          <a:xfrm>
            <a:off x="658368" y="3227832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Validate buyer onboarding</a:t>
            </a:r>
            <a:endParaRPr lang="en-US" sz="1300" dirty="0"/>
          </a:p>
        </p:txBody>
      </p:sp>
      <p:sp>
        <p:nvSpPr>
          <p:cNvPr id="19" name="Ops task role 1"/>
          <p:cNvSpPr txBox="1"/>
          <p:nvPr/>
        </p:nvSpPr>
        <p:spPr>
          <a:xfrm>
            <a:off x="658368" y="374904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PBP</a:t>
            </a:r>
            <a:endParaRPr lang="en-US" sz="1100" dirty="0"/>
          </a:p>
        </p:txBody>
      </p:sp>
      <p:sp>
        <p:nvSpPr>
          <p:cNvPr id="20" name="Ops task 2"/>
          <p:cNvSpPr/>
          <p:nvPr/>
        </p:nvSpPr>
        <p:spPr>
          <a:xfrm>
            <a:off x="2423160" y="3154680"/>
            <a:ext cx="1737360" cy="960120"/>
          </a:xfrm>
          <a:prstGeom prst="roundRect">
            <a:avLst>
              <a:gd name="adj" fmla="val 11429"/>
            </a:avLst>
          </a:prstGeom>
          <a:solidFill>
            <a:srgbClr val="E7EEF6"/>
          </a:solidFill>
          <a:ln w="9525">
            <a:solidFill>
              <a:srgbClr val="3A6EA5"/>
            </a:solidFill>
            <a:prstDash val="solid"/>
          </a:ln>
        </p:spPr>
      </p:sp>
      <p:sp>
        <p:nvSpPr>
          <p:cNvPr id="21" name="Ops task name 2"/>
          <p:cNvSpPr txBox="1"/>
          <p:nvPr/>
        </p:nvSpPr>
        <p:spPr>
          <a:xfrm>
            <a:off x="2532888" y="3227832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Review supplier accreditation</a:t>
            </a:r>
            <a:endParaRPr lang="en-US" sz="1300" dirty="0"/>
          </a:p>
        </p:txBody>
      </p:sp>
      <p:sp>
        <p:nvSpPr>
          <p:cNvPr id="22" name="Ops task role 2"/>
          <p:cNvSpPr txBox="1"/>
          <p:nvPr/>
        </p:nvSpPr>
        <p:spPr>
          <a:xfrm>
            <a:off x="2532888" y="374904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PBP</a:t>
            </a:r>
            <a:endParaRPr lang="en-US" sz="1100" dirty="0"/>
          </a:p>
        </p:txBody>
      </p:sp>
      <p:sp>
        <p:nvSpPr>
          <p:cNvPr id="23" name="Ops task 3"/>
          <p:cNvSpPr/>
          <p:nvPr/>
        </p:nvSpPr>
        <p:spPr>
          <a:xfrm>
            <a:off x="4297680" y="3154680"/>
            <a:ext cx="1737360" cy="960120"/>
          </a:xfrm>
          <a:prstGeom prst="roundRect">
            <a:avLst>
              <a:gd name="adj" fmla="val 11429"/>
            </a:avLst>
          </a:prstGeom>
          <a:solidFill>
            <a:srgbClr val="E7EEF6"/>
          </a:solidFill>
          <a:ln w="9525">
            <a:solidFill>
              <a:srgbClr val="3A6EA5"/>
            </a:solidFill>
            <a:prstDash val="solid"/>
          </a:ln>
        </p:spPr>
      </p:sp>
      <p:sp>
        <p:nvSpPr>
          <p:cNvPr id="24" name="Ops task name 3"/>
          <p:cNvSpPr txBox="1"/>
          <p:nvPr/>
        </p:nvSpPr>
        <p:spPr>
          <a:xfrm>
            <a:off x="4407408" y="3227832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Initial project review</a:t>
            </a:r>
            <a:endParaRPr lang="en-US" sz="1300" dirty="0"/>
          </a:p>
        </p:txBody>
      </p:sp>
      <p:sp>
        <p:nvSpPr>
          <p:cNvPr id="25" name="Ops task role 3"/>
          <p:cNvSpPr txBox="1"/>
          <p:nvPr/>
        </p:nvSpPr>
        <p:spPr>
          <a:xfrm>
            <a:off x="4407408" y="374904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Proc. Assurance</a:t>
            </a:r>
            <a:endParaRPr lang="en-US" sz="1100" dirty="0"/>
          </a:p>
        </p:txBody>
      </p:sp>
      <p:sp>
        <p:nvSpPr>
          <p:cNvPr id="26" name="Ops task 4"/>
          <p:cNvSpPr/>
          <p:nvPr/>
        </p:nvSpPr>
        <p:spPr>
          <a:xfrm>
            <a:off x="6172200" y="3154680"/>
            <a:ext cx="1737360" cy="960120"/>
          </a:xfrm>
          <a:prstGeom prst="roundRect">
            <a:avLst>
              <a:gd name="adj" fmla="val 11429"/>
            </a:avLst>
          </a:prstGeom>
          <a:solidFill>
            <a:srgbClr val="E7EEF6"/>
          </a:solidFill>
          <a:ln w="9525">
            <a:solidFill>
              <a:srgbClr val="3A6EA5"/>
            </a:solidFill>
            <a:prstDash val="solid"/>
          </a:ln>
        </p:spPr>
      </p:sp>
      <p:sp>
        <p:nvSpPr>
          <p:cNvPr id="27" name="Ops task name 4"/>
          <p:cNvSpPr txBox="1"/>
          <p:nvPr/>
        </p:nvSpPr>
        <p:spPr>
          <a:xfrm>
            <a:off x="6281928" y="3227832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Review and clarify project</a:t>
            </a:r>
            <a:endParaRPr lang="en-US" sz="1300" dirty="0"/>
          </a:p>
        </p:txBody>
      </p:sp>
      <p:sp>
        <p:nvSpPr>
          <p:cNvPr id="28" name="Ops task role 4"/>
          <p:cNvSpPr txBox="1"/>
          <p:nvPr/>
        </p:nvSpPr>
        <p:spPr>
          <a:xfrm>
            <a:off x="6281928" y="374904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PBP</a:t>
            </a:r>
            <a:endParaRPr lang="en-US" sz="1100" dirty="0"/>
          </a:p>
        </p:txBody>
      </p:sp>
      <p:sp>
        <p:nvSpPr>
          <p:cNvPr id="29" name="Ops task 5"/>
          <p:cNvSpPr/>
          <p:nvPr/>
        </p:nvSpPr>
        <p:spPr>
          <a:xfrm>
            <a:off x="8046720" y="3154680"/>
            <a:ext cx="173736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9525">
            <a:solidFill>
              <a:srgbClr val="1F7A63"/>
            </a:solidFill>
            <a:prstDash val="solid"/>
          </a:ln>
        </p:spPr>
      </p:sp>
      <p:sp>
        <p:nvSpPr>
          <p:cNvPr id="30" name="Ops task name 5"/>
          <p:cNvSpPr txBox="1"/>
          <p:nvPr/>
        </p:nvSpPr>
        <p:spPr>
          <a:xfrm>
            <a:off x="8156448" y="3227832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Review feedback</a:t>
            </a:r>
            <a:endParaRPr lang="en-US" sz="1300" dirty="0"/>
          </a:p>
        </p:txBody>
      </p:sp>
      <p:sp>
        <p:nvSpPr>
          <p:cNvPr id="31" name="Ops task role 5"/>
          <p:cNvSpPr txBox="1"/>
          <p:nvPr/>
        </p:nvSpPr>
        <p:spPr>
          <a:xfrm>
            <a:off x="8156448" y="374904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Buyer</a:t>
            </a:r>
            <a:endParaRPr lang="en-US" sz="1100" dirty="0"/>
          </a:p>
        </p:txBody>
      </p:sp>
      <p:sp>
        <p:nvSpPr>
          <p:cNvPr id="32" name="Ops task 6"/>
          <p:cNvSpPr/>
          <p:nvPr/>
        </p:nvSpPr>
        <p:spPr>
          <a:xfrm>
            <a:off x="9921240" y="3154680"/>
            <a:ext cx="1737360" cy="960120"/>
          </a:xfrm>
          <a:prstGeom prst="roundRect">
            <a:avLst>
              <a:gd name="adj" fmla="val 11429"/>
            </a:avLst>
          </a:prstGeom>
          <a:solidFill>
            <a:srgbClr val="E7EEF6"/>
          </a:solidFill>
          <a:ln w="9525">
            <a:solidFill>
              <a:srgbClr val="3A6EA5"/>
            </a:solidFill>
            <a:prstDash val="solid"/>
          </a:ln>
        </p:spPr>
      </p:sp>
      <p:sp>
        <p:nvSpPr>
          <p:cNvPr id="33" name="Ops task name 6"/>
          <p:cNvSpPr txBox="1"/>
          <p:nvPr/>
        </p:nvSpPr>
        <p:spPr>
          <a:xfrm>
            <a:off x="10030968" y="3227832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Final check</a:t>
            </a:r>
            <a:endParaRPr lang="en-US" sz="1300" dirty="0"/>
          </a:p>
        </p:txBody>
      </p:sp>
      <p:sp>
        <p:nvSpPr>
          <p:cNvPr id="34" name="Ops task role 6"/>
          <p:cNvSpPr txBox="1"/>
          <p:nvPr/>
        </p:nvSpPr>
        <p:spPr>
          <a:xfrm>
            <a:off x="10030968" y="374904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Proc. Assurance</a:t>
            </a:r>
            <a:endParaRPr lang="en-US" sz="1100" dirty="0"/>
          </a:p>
        </p:txBody>
      </p:sp>
      <p:sp>
        <p:nvSpPr>
          <p:cNvPr id="35" name="Row 3 label"/>
          <p:cNvSpPr txBox="1"/>
          <p:nvPr/>
        </p:nvSpPr>
        <p:spPr>
          <a:xfrm>
            <a:off x="548640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  Project moves through the delivery stages</a:t>
            </a:r>
            <a:endParaRPr lang="en-US" sz="1600" dirty="0"/>
          </a:p>
        </p:txBody>
      </p:sp>
      <p:sp>
        <p:nvSpPr>
          <p:cNvPr id="36" name="Stage 1"/>
          <p:cNvSpPr/>
          <p:nvPr/>
        </p:nvSpPr>
        <p:spPr>
          <a:xfrm>
            <a:off x="548640" y="4754880"/>
            <a:ext cx="2377440" cy="6858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37" name="Stage label 1"/>
          <p:cNvSpPr txBox="1"/>
          <p:nvPr/>
        </p:nvSpPr>
        <p:spPr>
          <a:xfrm>
            <a:off x="548640" y="47548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New Project Request</a:t>
            </a:r>
            <a:endParaRPr lang="en-US" sz="1600" dirty="0"/>
          </a:p>
        </p:txBody>
      </p:sp>
      <p:sp>
        <p:nvSpPr>
          <p:cNvPr id="38" name="Stage arrow 1"/>
          <p:cNvSpPr/>
          <p:nvPr/>
        </p:nvSpPr>
        <p:spPr>
          <a:xfrm>
            <a:off x="2971800" y="5097780"/>
            <a:ext cx="41148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9" name="Stage 2"/>
          <p:cNvSpPr/>
          <p:nvPr/>
        </p:nvSpPr>
        <p:spPr>
          <a:xfrm>
            <a:off x="3429000" y="4754880"/>
            <a:ext cx="237744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0" name="Stage label 2"/>
          <p:cNvSpPr txBox="1"/>
          <p:nvPr/>
        </p:nvSpPr>
        <p:spPr>
          <a:xfrm>
            <a:off x="3429000" y="47548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 Sourcing</a:t>
            </a:r>
            <a:endParaRPr lang="en-US" sz="1600" dirty="0"/>
          </a:p>
        </p:txBody>
      </p:sp>
      <p:sp>
        <p:nvSpPr>
          <p:cNvPr id="41" name="Stage arrow 2"/>
          <p:cNvSpPr/>
          <p:nvPr/>
        </p:nvSpPr>
        <p:spPr>
          <a:xfrm>
            <a:off x="5852160" y="5097780"/>
            <a:ext cx="41148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42" name="Stage 3"/>
          <p:cNvSpPr/>
          <p:nvPr/>
        </p:nvSpPr>
        <p:spPr>
          <a:xfrm>
            <a:off x="6309360" y="4754880"/>
            <a:ext cx="237744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3" name="Stage label 3"/>
          <p:cNvSpPr txBox="1"/>
          <p:nvPr/>
        </p:nvSpPr>
        <p:spPr>
          <a:xfrm>
            <a:off x="6309360" y="47548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 Delivery</a:t>
            </a:r>
            <a:endParaRPr lang="en-US" sz="1600" dirty="0"/>
          </a:p>
        </p:txBody>
      </p:sp>
      <p:sp>
        <p:nvSpPr>
          <p:cNvPr id="44" name="Stage arrow 3"/>
          <p:cNvSpPr/>
          <p:nvPr/>
        </p:nvSpPr>
        <p:spPr>
          <a:xfrm>
            <a:off x="8732520" y="5097780"/>
            <a:ext cx="41148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45" name="Stage 4"/>
          <p:cNvSpPr/>
          <p:nvPr/>
        </p:nvSpPr>
        <p:spPr>
          <a:xfrm>
            <a:off x="9189720" y="4754880"/>
            <a:ext cx="237744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6" name="Stage label 4"/>
          <p:cNvSpPr txBox="1"/>
          <p:nvPr/>
        </p:nvSpPr>
        <p:spPr>
          <a:xfrm>
            <a:off x="9189720" y="47548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Satisfied</a:t>
            </a:r>
            <a:endParaRPr lang="en-US" sz="1600" dirty="0"/>
          </a:p>
        </p:txBody>
      </p:sp>
      <p:sp>
        <p:nvSpPr>
          <p:cNvPr id="47" name="NPR sub-steps"/>
          <p:cNvSpPr txBox="1"/>
          <p:nvPr/>
        </p:nvSpPr>
        <p:spPr>
          <a:xfrm>
            <a:off x="548640" y="5532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Draft  →  Submitted &amp; In Review  →  Approved and Issued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Who takes part: roles and test accounts</a:t>
            </a:r>
            <a:endParaRPr lang="en-US" sz="3400" dirty="0"/>
          </a:p>
        </p:txBody>
      </p:sp>
      <p:sp>
        <p:nvSpPr>
          <p:cNvPr id="3" name="Buyer organisation header"/>
          <p:cNvSpPr/>
          <p:nvPr/>
        </p:nvSpPr>
        <p:spPr>
          <a:xfrm>
            <a:off x="548640" y="1371600"/>
            <a:ext cx="457200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" name="Buyer organisation title"/>
          <p:cNvSpPr txBox="1"/>
          <p:nvPr/>
        </p:nvSpPr>
        <p:spPr>
          <a:xfrm>
            <a:off x="731520" y="13716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Buyer organisation</a:t>
            </a:r>
            <a:endParaRPr lang="en-US" sz="1600" dirty="0"/>
          </a:p>
        </p:txBody>
      </p:sp>
      <p:sp>
        <p:nvSpPr>
          <p:cNvPr id="5" name="Buyer organisation role 1"/>
          <p:cNvSpPr/>
          <p:nvPr/>
        </p:nvSpPr>
        <p:spPr>
          <a:xfrm>
            <a:off x="548640" y="1965960"/>
            <a:ext cx="45720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6" name="Buyer organisation role name 1"/>
          <p:cNvSpPr txBox="1"/>
          <p:nvPr/>
        </p:nvSpPr>
        <p:spPr>
          <a:xfrm>
            <a:off x="731520" y="20391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Project Owner</a:t>
            </a:r>
            <a:endParaRPr lang="en-US" sz="1500" dirty="0"/>
          </a:p>
        </p:txBody>
      </p:sp>
      <p:sp>
        <p:nvSpPr>
          <p:cNvPr id="7" name="Buyer organisation role desc 1"/>
          <p:cNvSpPr txBox="1"/>
          <p:nvPr/>
        </p:nvSpPr>
        <p:spPr>
          <a:xfrm>
            <a:off x="731520" y="23591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Creates, completes and submits requests</a:t>
            </a:r>
            <a:endParaRPr lang="en-US" sz="1200" dirty="0"/>
          </a:p>
        </p:txBody>
      </p:sp>
      <p:sp>
        <p:nvSpPr>
          <p:cNvPr id="8" name="Buyer organisation role 2"/>
          <p:cNvSpPr/>
          <p:nvPr/>
        </p:nvSpPr>
        <p:spPr>
          <a:xfrm>
            <a:off x="548640" y="2807208"/>
            <a:ext cx="45720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Buyer organisation role name 2"/>
          <p:cNvSpPr txBox="1"/>
          <p:nvPr/>
        </p:nvSpPr>
        <p:spPr>
          <a:xfrm>
            <a:off x="731520" y="28803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Project Approver</a:t>
            </a:r>
            <a:endParaRPr lang="en-US" sz="1500" dirty="0"/>
          </a:p>
        </p:txBody>
      </p:sp>
      <p:sp>
        <p:nvSpPr>
          <p:cNvPr id="10" name="Buyer organisation role desc 2"/>
          <p:cNvSpPr txBox="1"/>
          <p:nvPr/>
        </p:nvSpPr>
        <p:spPr>
          <a:xfrm>
            <a:off x="731520" y="32004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Approves projects that need sign-off</a:t>
            </a:r>
            <a:endParaRPr lang="en-US" sz="1200" dirty="0"/>
          </a:p>
        </p:txBody>
      </p:sp>
      <p:sp>
        <p:nvSpPr>
          <p:cNvPr id="11" name="Buyer organisation role 3"/>
          <p:cNvSpPr/>
          <p:nvPr/>
        </p:nvSpPr>
        <p:spPr>
          <a:xfrm>
            <a:off x="548640" y="3648456"/>
            <a:ext cx="45720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2" name="Buyer organisation role name 3"/>
          <p:cNvSpPr txBox="1"/>
          <p:nvPr/>
        </p:nvSpPr>
        <p:spPr>
          <a:xfrm>
            <a:off x="731520" y="372160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Budget Approver</a:t>
            </a:r>
            <a:endParaRPr lang="en-US" sz="1500" dirty="0"/>
          </a:p>
        </p:txBody>
      </p:sp>
      <p:sp>
        <p:nvSpPr>
          <p:cNvPr id="13" name="Buyer organisation role desc 3"/>
          <p:cNvSpPr txBox="1"/>
          <p:nvPr/>
        </p:nvSpPr>
        <p:spPr>
          <a:xfrm>
            <a:off x="731520" y="40416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Approves payment requests</a:t>
            </a:r>
            <a:endParaRPr lang="en-US" sz="1200" dirty="0"/>
          </a:p>
        </p:txBody>
      </p:sp>
      <p:sp>
        <p:nvSpPr>
          <p:cNvPr id="14" name="Buyer organisation role 4"/>
          <p:cNvSpPr/>
          <p:nvPr/>
        </p:nvSpPr>
        <p:spPr>
          <a:xfrm>
            <a:off x="548640" y="4489704"/>
            <a:ext cx="45720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5" name="Buyer organisation role name 4"/>
          <p:cNvSpPr txBox="1"/>
          <p:nvPr/>
        </p:nvSpPr>
        <p:spPr>
          <a:xfrm>
            <a:off x="731520" y="456285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Additional Stakeholder</a:t>
            </a:r>
            <a:endParaRPr lang="en-US" sz="1500" dirty="0"/>
          </a:p>
        </p:txBody>
      </p:sp>
      <p:sp>
        <p:nvSpPr>
          <p:cNvPr id="16" name="Buyer organisation role desc 4"/>
          <p:cNvSpPr txBox="1"/>
          <p:nvPr/>
        </p:nvSpPr>
        <p:spPr>
          <a:xfrm>
            <a:off x="731520" y="488289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Collaborates on the project</a:t>
            </a:r>
            <a:endParaRPr lang="en-US" sz="1200" dirty="0"/>
          </a:p>
        </p:txBody>
      </p:sp>
      <p:sp>
        <p:nvSpPr>
          <p:cNvPr id="17" name="Buyer organisation role 5"/>
          <p:cNvSpPr/>
          <p:nvPr/>
        </p:nvSpPr>
        <p:spPr>
          <a:xfrm>
            <a:off x="548640" y="5330952"/>
            <a:ext cx="45720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8" name="Buyer organisation role name 5"/>
          <p:cNvSpPr txBox="1"/>
          <p:nvPr/>
        </p:nvSpPr>
        <p:spPr>
          <a:xfrm>
            <a:off x="731520" y="540410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Collateral Warranty signatory</a:t>
            </a:r>
            <a:endParaRPr lang="en-US" sz="1500" dirty="0"/>
          </a:p>
        </p:txBody>
      </p:sp>
      <p:sp>
        <p:nvSpPr>
          <p:cNvPr id="19" name="Buyer organisation role desc 5"/>
          <p:cNvSpPr txBox="1"/>
          <p:nvPr/>
        </p:nvSpPr>
        <p:spPr>
          <a:xfrm>
            <a:off x="731520" y="572414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Signs off warranties</a:t>
            </a:r>
            <a:endParaRPr lang="en-US" sz="1200" dirty="0"/>
          </a:p>
        </p:txBody>
      </p:sp>
      <p:sp>
        <p:nvSpPr>
          <p:cNvPr id="20" name="Bloom Ops header"/>
          <p:cNvSpPr/>
          <p:nvPr/>
        </p:nvSpPr>
        <p:spPr>
          <a:xfrm>
            <a:off x="5303520" y="1371600"/>
            <a:ext cx="3566160" cy="457200"/>
          </a:xfrm>
          <a:prstGeom prst="roundRect">
            <a:avLst>
              <a:gd name="adj" fmla="val 24000"/>
            </a:avLst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1" name="Bloom Ops title"/>
          <p:cNvSpPr txBox="1"/>
          <p:nvPr/>
        </p:nvSpPr>
        <p:spPr>
          <a:xfrm>
            <a:off x="5486400" y="1371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Bloom Ops</a:t>
            </a:r>
            <a:endParaRPr lang="en-US" sz="1600" dirty="0"/>
          </a:p>
        </p:txBody>
      </p:sp>
      <p:sp>
        <p:nvSpPr>
          <p:cNvPr id="22" name="Bloom Ops role 1"/>
          <p:cNvSpPr/>
          <p:nvPr/>
        </p:nvSpPr>
        <p:spPr>
          <a:xfrm>
            <a:off x="5303520" y="1965960"/>
            <a:ext cx="356616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3" name="Bloom Ops role name 1"/>
          <p:cNvSpPr txBox="1"/>
          <p:nvPr/>
        </p:nvSpPr>
        <p:spPr>
          <a:xfrm>
            <a:off x="5486400" y="20391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Procurement Business Partner</a:t>
            </a:r>
            <a:endParaRPr lang="en-US" sz="1500" dirty="0"/>
          </a:p>
        </p:txBody>
      </p:sp>
      <p:sp>
        <p:nvSpPr>
          <p:cNvPr id="24" name="Bloom Ops role desc 1"/>
          <p:cNvSpPr txBox="1"/>
          <p:nvPr/>
        </p:nvSpPr>
        <p:spPr>
          <a:xfrm>
            <a:off x="5486400" y="23591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Onboarding, accreditation, clarification</a:t>
            </a:r>
            <a:endParaRPr lang="en-US" sz="1200" dirty="0"/>
          </a:p>
        </p:txBody>
      </p:sp>
      <p:sp>
        <p:nvSpPr>
          <p:cNvPr id="25" name="Bloom Ops role 2"/>
          <p:cNvSpPr/>
          <p:nvPr/>
        </p:nvSpPr>
        <p:spPr>
          <a:xfrm>
            <a:off x="5303520" y="2807208"/>
            <a:ext cx="356616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6" name="Bloom Ops role name 2"/>
          <p:cNvSpPr txBox="1"/>
          <p:nvPr/>
        </p:nvSpPr>
        <p:spPr>
          <a:xfrm>
            <a:off x="548640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Procurement Assurance</a:t>
            </a:r>
            <a:endParaRPr lang="en-US" sz="1500" dirty="0"/>
          </a:p>
        </p:txBody>
      </p:sp>
      <p:sp>
        <p:nvSpPr>
          <p:cNvPr id="27" name="Bloom Ops role desc 2"/>
          <p:cNvSpPr txBox="1"/>
          <p:nvPr/>
        </p:nvSpPr>
        <p:spPr>
          <a:xfrm>
            <a:off x="5486400" y="3200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Initial review and final check</a:t>
            </a:r>
            <a:endParaRPr lang="en-US" sz="1200" dirty="0"/>
          </a:p>
        </p:txBody>
      </p:sp>
      <p:sp>
        <p:nvSpPr>
          <p:cNvPr id="28" name="Suppliers header"/>
          <p:cNvSpPr/>
          <p:nvPr/>
        </p:nvSpPr>
        <p:spPr>
          <a:xfrm>
            <a:off x="9052560" y="1371600"/>
            <a:ext cx="2560320" cy="457200"/>
          </a:xfrm>
          <a:prstGeom prst="roundRect">
            <a:avLst>
              <a:gd name="adj" fmla="val 24000"/>
            </a:avLst>
          </a:prstGeom>
          <a:solidFill>
            <a:schemeClr val="accent6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9" name="Suppliers title"/>
          <p:cNvSpPr txBox="1"/>
          <p:nvPr/>
        </p:nvSpPr>
        <p:spPr>
          <a:xfrm>
            <a:off x="9235440" y="1371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Suppliers</a:t>
            </a:r>
            <a:endParaRPr lang="en-US" sz="1600" dirty="0"/>
          </a:p>
        </p:txBody>
      </p:sp>
      <p:sp>
        <p:nvSpPr>
          <p:cNvPr id="30" name="Suppliers role 1"/>
          <p:cNvSpPr/>
          <p:nvPr/>
        </p:nvSpPr>
        <p:spPr>
          <a:xfrm>
            <a:off x="9052560" y="1965960"/>
            <a:ext cx="256032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31" name="Suppliers role name 1"/>
          <p:cNvSpPr txBox="1"/>
          <p:nvPr/>
        </p:nvSpPr>
        <p:spPr>
          <a:xfrm>
            <a:off x="9235440" y="20391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Supplier users</a:t>
            </a:r>
            <a:endParaRPr lang="en-US" sz="1500" dirty="0"/>
          </a:p>
        </p:txBody>
      </p:sp>
      <p:sp>
        <p:nvSpPr>
          <p:cNvPr id="32" name="Suppliers role desc 1"/>
          <p:cNvSpPr txBox="1"/>
          <p:nvPr/>
        </p:nvSpPr>
        <p:spPr>
          <a:xfrm>
            <a:off x="9235440" y="23591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Sourcing and delivery (later phase)</a:t>
            </a:r>
            <a:endParaRPr lang="en-US" sz="1200" dirty="0"/>
          </a:p>
        </p:txBody>
      </p:sp>
      <p:sp>
        <p:nvSpPr>
          <p:cNvPr id="33" name="Accounts card"/>
          <p:cNvSpPr/>
          <p:nvPr/>
        </p:nvSpPr>
        <p:spPr>
          <a:xfrm>
            <a:off x="5303520" y="3840480"/>
            <a:ext cx="6309360" cy="1143000"/>
          </a:xfrm>
          <a:prstGeom prst="roundRect">
            <a:avLst>
              <a:gd name="adj" fmla="val 9600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34" name="Accounts icon circle"/>
          <p:cNvSpPr/>
          <p:nvPr/>
        </p:nvSpPr>
        <p:spPr>
          <a:xfrm>
            <a:off x="5532120" y="406908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5" name="Accounts ic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3570" y="4240530"/>
            <a:ext cx="342900" cy="342900"/>
          </a:xfrm>
          <a:prstGeom prst="rect">
            <a:avLst/>
          </a:prstGeom>
        </p:spPr>
      </p:pic>
      <p:sp>
        <p:nvSpPr>
          <p:cNvPr id="36" name="Accounts note"/>
          <p:cNvSpPr txBox="1"/>
          <p:nvPr/>
        </p:nvSpPr>
        <p:spPr>
          <a:xfrm>
            <a:off x="6446520" y="384048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One dedicated test account per role lets a single test drive the whole journey across buyer, Bloom Ops and approvers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Scope and priorities</a:t>
            </a:r>
            <a:endParaRPr lang="en-US" sz="3400" dirty="0"/>
          </a:p>
        </p:txBody>
      </p:sp>
      <p:sp>
        <p:nvSpPr>
          <p:cNvPr id="3" name="Priority card 1"/>
          <p:cNvSpPr/>
          <p:nvPr/>
        </p:nvSpPr>
        <p:spPr>
          <a:xfrm>
            <a:off x="548640" y="1371600"/>
            <a:ext cx="3566160" cy="361188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Priority header 1"/>
          <p:cNvSpPr/>
          <p:nvPr/>
        </p:nvSpPr>
        <p:spPr>
          <a:xfrm>
            <a:off x="548640" y="1371600"/>
            <a:ext cx="3566160" cy="594360"/>
          </a:xfrm>
          <a:prstGeom prst="roundRect">
            <a:avLst>
              <a:gd name="adj" fmla="val 18462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5" name="Priority title 1"/>
          <p:cNvSpPr txBox="1"/>
          <p:nvPr/>
        </p:nvSpPr>
        <p:spPr>
          <a:xfrm>
            <a:off x="777240" y="13716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P1  Business critical</a:t>
            </a:r>
            <a:endParaRPr lang="en-US" sz="1800" dirty="0"/>
          </a:p>
        </p:txBody>
      </p:sp>
      <p:sp>
        <p:nvSpPr>
          <p:cNvPr id="6" name="Priority list 1"/>
          <p:cNvSpPr txBox="1"/>
          <p:nvPr/>
        </p:nvSpPr>
        <p:spPr>
          <a:xfrm>
            <a:off x="777240" y="2194560"/>
            <a:ext cx="3108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Login for every role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Create a New Project Request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All milestone forms and key conditional paths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Submit Request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Bloom Ops review and approvals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Raise and answer queries</a:t>
            </a:r>
            <a:endParaRPr lang="en-US" sz="1500" dirty="0"/>
          </a:p>
        </p:txBody>
      </p:sp>
      <p:sp>
        <p:nvSpPr>
          <p:cNvPr id="7" name="Priority card 2"/>
          <p:cNvSpPr/>
          <p:nvPr/>
        </p:nvSpPr>
        <p:spPr>
          <a:xfrm>
            <a:off x="4297680" y="1371600"/>
            <a:ext cx="3566160" cy="361188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8" name="Priority header 2"/>
          <p:cNvSpPr/>
          <p:nvPr/>
        </p:nvSpPr>
        <p:spPr>
          <a:xfrm>
            <a:off x="4297680" y="1371600"/>
            <a:ext cx="3566160" cy="594360"/>
          </a:xfrm>
          <a:prstGeom prst="roundRect">
            <a:avLst>
              <a:gd name="adj" fmla="val 18462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9" name="Priority title 2"/>
          <p:cNvSpPr txBox="1"/>
          <p:nvPr/>
        </p:nvSpPr>
        <p:spPr>
          <a:xfrm>
            <a:off x="4526280" y="13716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P2  Core functions</a:t>
            </a:r>
            <a:endParaRPr lang="en-US" sz="1800" dirty="0"/>
          </a:p>
        </p:txBody>
      </p:sp>
      <p:sp>
        <p:nvSpPr>
          <p:cNvPr id="10" name="Priority list 2"/>
          <p:cNvSpPr txBox="1"/>
          <p:nvPr/>
        </p:nvSpPr>
        <p:spPr>
          <a:xfrm>
            <a:off x="4526280" y="2194560"/>
            <a:ext cx="3108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Project and task search, filters, paging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Specification, documents and versions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History audit trail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My Organisation: users, finance, documents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Dashboard figures match data</a:t>
            </a:r>
            <a:endParaRPr lang="en-US" sz="1500" dirty="0"/>
          </a:p>
        </p:txBody>
      </p:sp>
      <p:sp>
        <p:nvSpPr>
          <p:cNvPr id="11" name="Priority card 3"/>
          <p:cNvSpPr/>
          <p:nvPr/>
        </p:nvSpPr>
        <p:spPr>
          <a:xfrm>
            <a:off x="8046720" y="1371600"/>
            <a:ext cx="3566160" cy="361188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2" name="Priority header 3"/>
          <p:cNvSpPr/>
          <p:nvPr/>
        </p:nvSpPr>
        <p:spPr>
          <a:xfrm>
            <a:off x="8046720" y="1371600"/>
            <a:ext cx="3566160" cy="594360"/>
          </a:xfrm>
          <a:prstGeom prst="roundRect">
            <a:avLst>
              <a:gd name="adj" fmla="val 18462"/>
            </a:avLst>
          </a:prstGeom>
          <a:solidFill>
            <a:schemeClr val="accent6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3" name="Priority title 3"/>
          <p:cNvSpPr txBox="1"/>
          <p:nvPr/>
        </p:nvSpPr>
        <p:spPr>
          <a:xfrm>
            <a:off x="8275320" y="13716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P3  Extended</a:t>
            </a:r>
            <a:endParaRPr lang="en-US" sz="1800" dirty="0"/>
          </a:p>
        </p:txBody>
      </p:sp>
      <p:sp>
        <p:nvSpPr>
          <p:cNvPr id="14" name="Priority list 3"/>
          <p:cNvSpPr txBox="1"/>
          <p:nvPr/>
        </p:nvSpPr>
        <p:spPr>
          <a:xfrm>
            <a:off x="8275320" y="2194560"/>
            <a:ext cx="3108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Invoices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Dashboard widgets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Field validation and negative paths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Sourcing and delivery stages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Supplier journeys</a:t>
            </a:r>
            <a:endParaRPr lang="en-US" sz="1500" dirty="0"/>
          </a:p>
        </p:txBody>
      </p:sp>
      <p:sp>
        <p:nvSpPr>
          <p:cNvPr id="15" name="Manual note"/>
          <p:cNvSpPr txBox="1"/>
          <p:nvPr/>
        </p:nvSpPr>
        <p:spPr>
          <a:xfrm>
            <a:off x="548640" y="5212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Stays manual: exploratory testing, visual and UX review, one-off data migrations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Test approach: five layers</a:t>
            </a:r>
            <a:endParaRPr lang="en-US" sz="3400" dirty="0"/>
          </a:p>
        </p:txBody>
      </p:sp>
      <p:sp>
        <p:nvSpPr>
          <p:cNvPr id="3" name="Layer row 1"/>
          <p:cNvSpPr/>
          <p:nvPr/>
        </p:nvSpPr>
        <p:spPr>
          <a:xfrm>
            <a:off x="548640" y="1371600"/>
            <a:ext cx="11064240" cy="786384"/>
          </a:xfrm>
          <a:prstGeom prst="roundRect">
            <a:avLst>
              <a:gd name="adj" fmla="val 13953"/>
            </a:avLst>
          </a:prstGeom>
          <a:solidFill>
            <a:schemeClr val="bg2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4" name="Layer 1 circle"/>
          <p:cNvSpPr/>
          <p:nvPr/>
        </p:nvSpPr>
        <p:spPr>
          <a:xfrm>
            <a:off x="731520" y="149047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Layer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27632"/>
            <a:ext cx="274320" cy="274320"/>
          </a:xfrm>
          <a:prstGeom prst="rect">
            <a:avLst/>
          </a:prstGeom>
        </p:spPr>
      </p:pic>
      <p:sp>
        <p:nvSpPr>
          <p:cNvPr id="6" name="Layer name 1"/>
          <p:cNvSpPr txBox="1"/>
          <p:nvPr/>
        </p:nvSpPr>
        <p:spPr>
          <a:xfrm>
            <a:off x="1463040" y="1371600"/>
            <a:ext cx="2651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Smoke</a:t>
            </a:r>
            <a:endParaRPr lang="en-US" sz="1800" dirty="0"/>
          </a:p>
        </p:txBody>
      </p:sp>
      <p:sp>
        <p:nvSpPr>
          <p:cNvPr id="7" name="Layer desc 1"/>
          <p:cNvSpPr txBox="1"/>
          <p:nvPr/>
        </p:nvSpPr>
        <p:spPr>
          <a:xfrm>
            <a:off x="4114800" y="1371600"/>
            <a:ext cx="5394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Login, create draft, open project, raise query — under 5 minutes</a:t>
            </a:r>
            <a:endParaRPr lang="en-US" sz="1400" dirty="0"/>
          </a:p>
        </p:txBody>
      </p:sp>
      <p:sp>
        <p:nvSpPr>
          <p:cNvPr id="8" name="Layer chip 1"/>
          <p:cNvSpPr/>
          <p:nvPr/>
        </p:nvSpPr>
        <p:spPr>
          <a:xfrm>
            <a:off x="9692640" y="1563624"/>
            <a:ext cx="1737360" cy="402336"/>
          </a:xfrm>
          <a:prstGeom prst="roundRect">
            <a:avLst>
              <a:gd name="adj" fmla="val 27273"/>
            </a:avLst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9" name="Layer when 1"/>
          <p:cNvSpPr txBox="1"/>
          <p:nvPr/>
        </p:nvSpPr>
        <p:spPr>
          <a:xfrm>
            <a:off x="9692640" y="156362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Every pull request</a:t>
            </a:r>
            <a:endParaRPr lang="en-US" sz="1200" dirty="0"/>
          </a:p>
        </p:txBody>
      </p:sp>
      <p:sp>
        <p:nvSpPr>
          <p:cNvPr id="10" name="Layer row 2"/>
          <p:cNvSpPr/>
          <p:nvPr/>
        </p:nvSpPr>
        <p:spPr>
          <a:xfrm>
            <a:off x="548640" y="2286000"/>
            <a:ext cx="11064240" cy="786384"/>
          </a:xfrm>
          <a:prstGeom prst="roundRect">
            <a:avLst>
              <a:gd name="adj" fmla="val 13953"/>
            </a:avLst>
          </a:prstGeom>
          <a:solidFill>
            <a:schemeClr val="bg1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1" name="Layer 2 circle"/>
          <p:cNvSpPr/>
          <p:nvPr/>
        </p:nvSpPr>
        <p:spPr>
          <a:xfrm>
            <a:off x="731520" y="240487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Layer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542032"/>
            <a:ext cx="274320" cy="274320"/>
          </a:xfrm>
          <a:prstGeom prst="rect">
            <a:avLst/>
          </a:prstGeom>
        </p:spPr>
      </p:pic>
      <p:sp>
        <p:nvSpPr>
          <p:cNvPr id="13" name="Layer name 2"/>
          <p:cNvSpPr txBox="1"/>
          <p:nvPr/>
        </p:nvSpPr>
        <p:spPr>
          <a:xfrm>
            <a:off x="1463040" y="2286000"/>
            <a:ext cx="2651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Regression</a:t>
            </a:r>
            <a:endParaRPr lang="en-US" sz="1800" dirty="0"/>
          </a:p>
        </p:txBody>
      </p:sp>
      <p:sp>
        <p:nvSpPr>
          <p:cNvPr id="14" name="Layer desc 2"/>
          <p:cNvSpPr txBox="1"/>
          <p:nvPr/>
        </p:nvSpPr>
        <p:spPr>
          <a:xfrm>
            <a:off x="4114800" y="2286000"/>
            <a:ext cx="5394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Full buyer journey, milestones, filters, documents and history</a:t>
            </a:r>
            <a:endParaRPr lang="en-US" sz="1400" dirty="0"/>
          </a:p>
        </p:txBody>
      </p:sp>
      <p:sp>
        <p:nvSpPr>
          <p:cNvPr id="15" name="Layer chip 2"/>
          <p:cNvSpPr/>
          <p:nvPr/>
        </p:nvSpPr>
        <p:spPr>
          <a:xfrm>
            <a:off x="9692640" y="2478024"/>
            <a:ext cx="1737360" cy="402336"/>
          </a:xfrm>
          <a:prstGeom prst="roundRect">
            <a:avLst>
              <a:gd name="adj" fmla="val 27273"/>
            </a:avLst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6" name="Layer when 2"/>
          <p:cNvSpPr txBox="1"/>
          <p:nvPr/>
        </p:nvSpPr>
        <p:spPr>
          <a:xfrm>
            <a:off x="9692640" y="247802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Nightly</a:t>
            </a:r>
            <a:endParaRPr lang="en-US" sz="1200" dirty="0"/>
          </a:p>
        </p:txBody>
      </p:sp>
      <p:sp>
        <p:nvSpPr>
          <p:cNvPr id="17" name="Layer row 3"/>
          <p:cNvSpPr/>
          <p:nvPr/>
        </p:nvSpPr>
        <p:spPr>
          <a:xfrm>
            <a:off x="548640" y="3200400"/>
            <a:ext cx="11064240" cy="786384"/>
          </a:xfrm>
          <a:prstGeom prst="roundRect">
            <a:avLst>
              <a:gd name="adj" fmla="val 13953"/>
            </a:avLst>
          </a:prstGeom>
          <a:solidFill>
            <a:schemeClr val="bg2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8" name="Layer 3 circle"/>
          <p:cNvSpPr/>
          <p:nvPr/>
        </p:nvSpPr>
        <p:spPr>
          <a:xfrm>
            <a:off x="731520" y="331927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Layer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456432"/>
            <a:ext cx="274320" cy="274320"/>
          </a:xfrm>
          <a:prstGeom prst="rect">
            <a:avLst/>
          </a:prstGeom>
        </p:spPr>
      </p:pic>
      <p:sp>
        <p:nvSpPr>
          <p:cNvPr id="20" name="Layer name 3"/>
          <p:cNvSpPr txBox="1"/>
          <p:nvPr/>
        </p:nvSpPr>
        <p:spPr>
          <a:xfrm>
            <a:off x="1463040" y="3200400"/>
            <a:ext cx="2651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Multi-role end-to-end</a:t>
            </a:r>
            <a:endParaRPr lang="en-US" sz="1800" dirty="0"/>
          </a:p>
        </p:txBody>
      </p:sp>
      <p:sp>
        <p:nvSpPr>
          <p:cNvPr id="21" name="Layer desc 3"/>
          <p:cNvSpPr txBox="1"/>
          <p:nvPr/>
        </p:nvSpPr>
        <p:spPr>
          <a:xfrm>
            <a:off x="4114800" y="3200400"/>
            <a:ext cx="5394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Buyer → Bloom Ops → approver hand-offs in one test</a:t>
            </a:r>
            <a:endParaRPr lang="en-US" sz="1400" dirty="0"/>
          </a:p>
        </p:txBody>
      </p:sp>
      <p:sp>
        <p:nvSpPr>
          <p:cNvPr id="22" name="Layer chip 3"/>
          <p:cNvSpPr/>
          <p:nvPr/>
        </p:nvSpPr>
        <p:spPr>
          <a:xfrm>
            <a:off x="9692640" y="3392424"/>
            <a:ext cx="1737360" cy="402336"/>
          </a:xfrm>
          <a:prstGeom prst="roundRect">
            <a:avLst>
              <a:gd name="adj" fmla="val 27273"/>
            </a:avLst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3" name="Layer when 3"/>
          <p:cNvSpPr txBox="1"/>
          <p:nvPr/>
        </p:nvSpPr>
        <p:spPr>
          <a:xfrm>
            <a:off x="9692640" y="339242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Nightly</a:t>
            </a:r>
            <a:endParaRPr lang="en-US" sz="1200" dirty="0"/>
          </a:p>
        </p:txBody>
      </p:sp>
      <p:sp>
        <p:nvSpPr>
          <p:cNvPr id="24" name="Layer row 4"/>
          <p:cNvSpPr/>
          <p:nvPr/>
        </p:nvSpPr>
        <p:spPr>
          <a:xfrm>
            <a:off x="548640" y="4114800"/>
            <a:ext cx="11064240" cy="786384"/>
          </a:xfrm>
          <a:prstGeom prst="roundRect">
            <a:avLst>
              <a:gd name="adj" fmla="val 13953"/>
            </a:avLst>
          </a:prstGeom>
          <a:solidFill>
            <a:schemeClr val="bg1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25" name="Layer 4 circle"/>
          <p:cNvSpPr/>
          <p:nvPr/>
        </p:nvSpPr>
        <p:spPr>
          <a:xfrm>
            <a:off x="731520" y="423367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Layer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370832"/>
            <a:ext cx="274320" cy="274320"/>
          </a:xfrm>
          <a:prstGeom prst="rect">
            <a:avLst/>
          </a:prstGeom>
        </p:spPr>
      </p:pic>
      <p:sp>
        <p:nvSpPr>
          <p:cNvPr id="27" name="Layer name 4"/>
          <p:cNvSpPr txBox="1"/>
          <p:nvPr/>
        </p:nvSpPr>
        <p:spPr>
          <a:xfrm>
            <a:off x="1463040" y="4114800"/>
            <a:ext cx="2651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Data-driven paths</a:t>
            </a:r>
            <a:endParaRPr lang="en-US" sz="1800" dirty="0"/>
          </a:p>
        </p:txBody>
      </p:sp>
      <p:sp>
        <p:nvSpPr>
          <p:cNvPr id="28" name="Layer desc 4"/>
          <p:cNvSpPr txBox="1"/>
          <p:nvPr/>
        </p:nvSpPr>
        <p:spPr>
          <a:xfrm>
            <a:off x="4114800" y="4114800"/>
            <a:ext cx="5394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Same flow with different answers: Direct vs Mini Competition, insurance Yes/No</a:t>
            </a:r>
            <a:endParaRPr lang="en-US" sz="1400" dirty="0"/>
          </a:p>
        </p:txBody>
      </p:sp>
      <p:sp>
        <p:nvSpPr>
          <p:cNvPr id="29" name="Layer chip 4"/>
          <p:cNvSpPr/>
          <p:nvPr/>
        </p:nvSpPr>
        <p:spPr>
          <a:xfrm>
            <a:off x="9692640" y="4306824"/>
            <a:ext cx="1737360" cy="402336"/>
          </a:xfrm>
          <a:prstGeom prst="roundRect">
            <a:avLst>
              <a:gd name="adj" fmla="val 27273"/>
            </a:avLst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30" name="Layer when 4"/>
          <p:cNvSpPr txBox="1"/>
          <p:nvPr/>
        </p:nvSpPr>
        <p:spPr>
          <a:xfrm>
            <a:off x="9692640" y="430682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Nightly</a:t>
            </a:r>
            <a:endParaRPr lang="en-US" sz="1200" dirty="0"/>
          </a:p>
        </p:txBody>
      </p:sp>
      <p:sp>
        <p:nvSpPr>
          <p:cNvPr id="31" name="Layer row 5"/>
          <p:cNvSpPr/>
          <p:nvPr/>
        </p:nvSpPr>
        <p:spPr>
          <a:xfrm>
            <a:off x="548640" y="5029200"/>
            <a:ext cx="11064240" cy="786384"/>
          </a:xfrm>
          <a:prstGeom prst="roundRect">
            <a:avLst>
              <a:gd name="adj" fmla="val 13953"/>
            </a:avLst>
          </a:prstGeom>
          <a:solidFill>
            <a:schemeClr val="bg2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32" name="Layer 5 circle"/>
          <p:cNvSpPr/>
          <p:nvPr/>
        </p:nvSpPr>
        <p:spPr>
          <a:xfrm>
            <a:off x="731520" y="514807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3" name="Layer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285232"/>
            <a:ext cx="274320" cy="274320"/>
          </a:xfrm>
          <a:prstGeom prst="rect">
            <a:avLst/>
          </a:prstGeom>
        </p:spPr>
      </p:pic>
      <p:sp>
        <p:nvSpPr>
          <p:cNvPr id="34" name="Layer name 5"/>
          <p:cNvSpPr txBox="1"/>
          <p:nvPr/>
        </p:nvSpPr>
        <p:spPr>
          <a:xfrm>
            <a:off x="1463040" y="5029200"/>
            <a:ext cx="2651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API-assisted setup</a:t>
            </a:r>
            <a:endParaRPr lang="en-US" sz="1800" dirty="0"/>
          </a:p>
        </p:txBody>
      </p:sp>
      <p:sp>
        <p:nvSpPr>
          <p:cNvPr id="35" name="Layer desc 5"/>
          <p:cNvSpPr txBox="1"/>
          <p:nvPr/>
        </p:nvSpPr>
        <p:spPr>
          <a:xfrm>
            <a:off x="4114800" y="5029200"/>
            <a:ext cx="5394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Create and clean test data through the app's APIs to keep UI tests short</a:t>
            </a:r>
            <a:endParaRPr lang="en-US" sz="1400" dirty="0"/>
          </a:p>
        </p:txBody>
      </p:sp>
      <p:sp>
        <p:nvSpPr>
          <p:cNvPr id="36" name="Layer chip 5"/>
          <p:cNvSpPr/>
          <p:nvPr/>
        </p:nvSpPr>
        <p:spPr>
          <a:xfrm>
            <a:off x="9692640" y="5221224"/>
            <a:ext cx="1737360" cy="402336"/>
          </a:xfrm>
          <a:prstGeom prst="roundRect">
            <a:avLst>
              <a:gd name="adj" fmla="val 27273"/>
            </a:avLst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37" name="Layer when 5"/>
          <p:cNvSpPr txBox="1"/>
          <p:nvPr/>
        </p:nvSpPr>
        <p:spPr>
          <a:xfrm>
            <a:off x="9692640" y="522122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Every run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Framework architecture</a:t>
            </a:r>
            <a:endParaRPr lang="en-US" sz="3400" dirty="0"/>
          </a:p>
        </p:txBody>
      </p:sp>
      <p:sp>
        <p:nvSpPr>
          <p:cNvPr id="3" name="Stack layer 1"/>
          <p:cNvSpPr/>
          <p:nvPr/>
        </p:nvSpPr>
        <p:spPr>
          <a:xfrm>
            <a:off x="3246120" y="1371600"/>
            <a:ext cx="5669280" cy="640080"/>
          </a:xfrm>
          <a:prstGeom prst="roundRect">
            <a:avLst>
              <a:gd name="adj" fmla="val 17143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4" name="Stack name 1"/>
          <p:cNvSpPr txBox="1"/>
          <p:nvPr/>
        </p:nvSpPr>
        <p:spPr>
          <a:xfrm>
            <a:off x="3474720" y="13716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Tests</a:t>
            </a:r>
            <a:endParaRPr lang="en-US" sz="1600" dirty="0"/>
          </a:p>
        </p:txBody>
      </p:sp>
      <p:sp>
        <p:nvSpPr>
          <p:cNvPr id="5" name="Stack desc 1"/>
          <p:cNvSpPr txBox="1"/>
          <p:nvPr/>
        </p:nvSpPr>
        <p:spPr>
          <a:xfrm>
            <a:off x="5669280" y="137160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pytest · smoke / regression markers · parametrised paths</a:t>
            </a:r>
            <a:endParaRPr lang="en-US" sz="1200" dirty="0"/>
          </a:p>
        </p:txBody>
      </p:sp>
      <p:sp>
        <p:nvSpPr>
          <p:cNvPr id="6" name="Stack layer 2"/>
          <p:cNvSpPr/>
          <p:nvPr/>
        </p:nvSpPr>
        <p:spPr>
          <a:xfrm>
            <a:off x="3246120" y="2121408"/>
            <a:ext cx="5669280" cy="640080"/>
          </a:xfrm>
          <a:prstGeom prst="roundRect">
            <a:avLst>
              <a:gd name="adj" fmla="val 17143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7" name="Stack name 2"/>
          <p:cNvSpPr txBox="1"/>
          <p:nvPr/>
        </p:nvSpPr>
        <p:spPr>
          <a:xfrm>
            <a:off x="3474720" y="212140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Fixtures &amp; test data</a:t>
            </a:r>
            <a:endParaRPr lang="en-US" sz="1600" dirty="0"/>
          </a:p>
        </p:txBody>
      </p:sp>
      <p:sp>
        <p:nvSpPr>
          <p:cNvPr id="8" name="Stack desc 2"/>
          <p:cNvSpPr txBox="1"/>
          <p:nvPr/>
        </p:nvSpPr>
        <p:spPr>
          <a:xfrm>
            <a:off x="5669280" y="212140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role logins · data modules · upload file library</a:t>
            </a:r>
            <a:endParaRPr lang="en-US" sz="1200" dirty="0"/>
          </a:p>
        </p:txBody>
      </p:sp>
      <p:sp>
        <p:nvSpPr>
          <p:cNvPr id="9" name="Stack layer 3"/>
          <p:cNvSpPr/>
          <p:nvPr/>
        </p:nvSpPr>
        <p:spPr>
          <a:xfrm>
            <a:off x="3246120" y="2871216"/>
            <a:ext cx="5669280" cy="640080"/>
          </a:xfrm>
          <a:prstGeom prst="roundRect">
            <a:avLst>
              <a:gd name="adj" fmla="val 17143"/>
            </a:avLst>
          </a:prstGeom>
          <a:solidFill>
            <a:schemeClr val="accent5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" name="Stack name 3"/>
          <p:cNvSpPr txBox="1"/>
          <p:nvPr/>
        </p:nvSpPr>
        <p:spPr>
          <a:xfrm>
            <a:off x="3474720" y="2871216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Page objects (POM)</a:t>
            </a:r>
            <a:endParaRPr lang="en-US" sz="1600" dirty="0"/>
          </a:p>
        </p:txBody>
      </p:sp>
      <p:sp>
        <p:nvSpPr>
          <p:cNvPr id="11" name="Stack desc 3"/>
          <p:cNvSpPr txBox="1"/>
          <p:nvPr/>
        </p:nvSpPr>
        <p:spPr>
          <a:xfrm>
            <a:off x="5669280" y="2871216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one class per page · locators defined once</a:t>
            </a:r>
            <a:endParaRPr lang="en-US" sz="1200" dirty="0"/>
          </a:p>
        </p:txBody>
      </p:sp>
      <p:sp>
        <p:nvSpPr>
          <p:cNvPr id="12" name="Stack layer 4"/>
          <p:cNvSpPr/>
          <p:nvPr/>
        </p:nvSpPr>
        <p:spPr>
          <a:xfrm>
            <a:off x="3246120" y="3621024"/>
            <a:ext cx="566928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3" name="Stack name 4"/>
          <p:cNvSpPr txBox="1"/>
          <p:nvPr/>
        </p:nvSpPr>
        <p:spPr>
          <a:xfrm>
            <a:off x="3474720" y="3621024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Utilities</a:t>
            </a:r>
            <a:endParaRPr lang="en-US" sz="1600" dirty="0"/>
          </a:p>
        </p:txBody>
      </p:sp>
      <p:sp>
        <p:nvSpPr>
          <p:cNvPr id="14" name="Stack desc 4"/>
          <p:cNvSpPr txBox="1"/>
          <p:nvPr/>
        </p:nvSpPr>
        <p:spPr>
          <a:xfrm>
            <a:off x="5669280" y="3621024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date pickers · question-scoped locators · smart waits</a:t>
            </a:r>
            <a:endParaRPr lang="en-US" sz="1200" dirty="0"/>
          </a:p>
        </p:txBody>
      </p:sp>
      <p:sp>
        <p:nvSpPr>
          <p:cNvPr id="15" name="Stack layer 5"/>
          <p:cNvSpPr/>
          <p:nvPr/>
        </p:nvSpPr>
        <p:spPr>
          <a:xfrm>
            <a:off x="3246120" y="4370832"/>
            <a:ext cx="5669280" cy="640080"/>
          </a:xfrm>
          <a:prstGeom prst="roundRect">
            <a:avLst>
              <a:gd name="adj" fmla="val 17143"/>
            </a:avLst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6" name="Stack name 5"/>
          <p:cNvSpPr txBox="1"/>
          <p:nvPr/>
        </p:nvSpPr>
        <p:spPr>
          <a:xfrm>
            <a:off x="3474720" y="437083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Playwright</a:t>
            </a:r>
            <a:endParaRPr lang="en-US" sz="1600" dirty="0"/>
          </a:p>
        </p:txBody>
      </p:sp>
      <p:sp>
        <p:nvSpPr>
          <p:cNvPr id="17" name="Stack desc 5"/>
          <p:cNvSpPr txBox="1"/>
          <p:nvPr/>
        </p:nvSpPr>
        <p:spPr>
          <a:xfrm>
            <a:off x="5669280" y="4370832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Chromium · Firefox · WebKit · Edge</a:t>
            </a:r>
            <a:endParaRPr lang="en-US" sz="1200" dirty="0"/>
          </a:p>
        </p:txBody>
      </p:sp>
      <p:sp>
        <p:nvSpPr>
          <p:cNvPr id="18" name="Stack layer 6"/>
          <p:cNvSpPr/>
          <p:nvPr/>
        </p:nvSpPr>
        <p:spPr>
          <a:xfrm>
            <a:off x="3246120" y="5120640"/>
            <a:ext cx="5669280" cy="640080"/>
          </a:xfrm>
          <a:prstGeom prst="roundRect">
            <a:avLst>
              <a:gd name="adj" fmla="val 17143"/>
            </a:avLst>
          </a:prstGeom>
          <a:solidFill>
            <a:schemeClr val="accent6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9" name="Stack name 6"/>
          <p:cNvSpPr txBox="1"/>
          <p:nvPr/>
        </p:nvSpPr>
        <p:spPr>
          <a:xfrm>
            <a:off x="3474720" y="5120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Bloom Elevate</a:t>
            </a:r>
            <a:endParaRPr lang="en-US" sz="1600" dirty="0"/>
          </a:p>
        </p:txBody>
      </p:sp>
      <p:sp>
        <p:nvSpPr>
          <p:cNvPr id="20" name="Stack desc 6"/>
          <p:cNvSpPr txBox="1"/>
          <p:nvPr/>
        </p:nvSpPr>
        <p:spPr>
          <a:xfrm>
            <a:off x="5669280" y="51206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web UI + REST APIs (test environment)</a:t>
            </a:r>
            <a:endParaRPr lang="en-US" sz="1200" dirty="0"/>
          </a:p>
        </p:txBody>
      </p:sp>
      <p:sp>
        <p:nvSpPr>
          <p:cNvPr id="21" name="Tooling card"/>
          <p:cNvSpPr/>
          <p:nvPr/>
        </p:nvSpPr>
        <p:spPr>
          <a:xfrm>
            <a:off x="548640" y="1371600"/>
            <a:ext cx="2514600" cy="438912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2" name="Tooling circle"/>
          <p:cNvSpPr/>
          <p:nvPr/>
        </p:nvSpPr>
        <p:spPr>
          <a:xfrm>
            <a:off x="777240" y="160020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3" name="Tooling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760220"/>
            <a:ext cx="320040" cy="320040"/>
          </a:xfrm>
          <a:prstGeom prst="rect">
            <a:avLst/>
          </a:prstGeom>
        </p:spPr>
      </p:pic>
      <p:sp>
        <p:nvSpPr>
          <p:cNvPr id="24" name="Tooling title"/>
          <p:cNvSpPr txBox="1"/>
          <p:nvPr/>
        </p:nvSpPr>
        <p:spPr>
          <a:xfrm>
            <a:off x="777240" y="2377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Tooling</a:t>
            </a:r>
            <a:endParaRPr lang="en-US" sz="1800" dirty="0"/>
          </a:p>
        </p:txBody>
      </p:sp>
      <p:sp>
        <p:nvSpPr>
          <p:cNvPr id="25" name="Tooling list"/>
          <p:cNvSpPr txBox="1"/>
          <p:nvPr/>
        </p:nvSpPr>
        <p:spPr>
          <a:xfrm>
            <a:off x="777240" y="2880360"/>
            <a:ext cx="2148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Playwright MCP to explore pages and verify locators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Coding standard for every contributor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Locator catalogue per milestone</a:t>
            </a:r>
            <a:endParaRPr lang="en-US" sz="1400" dirty="0"/>
          </a:p>
        </p:txBody>
      </p:sp>
      <p:sp>
        <p:nvSpPr>
          <p:cNvPr id="26" name="Reporting card"/>
          <p:cNvSpPr/>
          <p:nvPr/>
        </p:nvSpPr>
        <p:spPr>
          <a:xfrm>
            <a:off x="9098280" y="1371600"/>
            <a:ext cx="2514600" cy="438912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7" name="Reporting circle"/>
          <p:cNvSpPr/>
          <p:nvPr/>
        </p:nvSpPr>
        <p:spPr>
          <a:xfrm>
            <a:off x="9326880" y="160020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8" name="Reporting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900" y="1760220"/>
            <a:ext cx="320040" cy="320040"/>
          </a:xfrm>
          <a:prstGeom prst="rect">
            <a:avLst/>
          </a:prstGeom>
        </p:spPr>
      </p:pic>
      <p:sp>
        <p:nvSpPr>
          <p:cNvPr id="29" name="Reporting title"/>
          <p:cNvSpPr txBox="1"/>
          <p:nvPr/>
        </p:nvSpPr>
        <p:spPr>
          <a:xfrm>
            <a:off x="9326880" y="2377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Reporting</a:t>
            </a:r>
            <a:endParaRPr lang="en-US" sz="1800" dirty="0"/>
          </a:p>
        </p:txBody>
      </p:sp>
      <p:sp>
        <p:nvSpPr>
          <p:cNvPr id="30" name="Reporting list"/>
          <p:cNvSpPr txBox="1"/>
          <p:nvPr/>
        </p:nvSpPr>
        <p:spPr>
          <a:xfrm>
            <a:off x="9326880" y="2880360"/>
            <a:ext cx="2148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Allure report per run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Trace, screenshot and video on failure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Parallel runs across workers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Reliability by design</a:t>
            </a:r>
            <a:endParaRPr lang="en-US" sz="3400" dirty="0"/>
          </a:p>
        </p:txBody>
      </p:sp>
      <p:sp>
        <p:nvSpPr>
          <p:cNvPr id="3" name="Reliability card 1"/>
          <p:cNvSpPr/>
          <p:nvPr/>
        </p:nvSpPr>
        <p:spPr>
          <a:xfrm>
            <a:off x="548640" y="1371600"/>
            <a:ext cx="5440680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Reliability 1 circle"/>
          <p:cNvSpPr/>
          <p:nvPr/>
        </p:nvSpPr>
        <p:spPr>
          <a:xfrm>
            <a:off x="822960" y="16002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Reliability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1771650"/>
            <a:ext cx="342900" cy="342900"/>
          </a:xfrm>
          <a:prstGeom prst="rect">
            <a:avLst/>
          </a:prstGeom>
        </p:spPr>
      </p:pic>
      <p:sp>
        <p:nvSpPr>
          <p:cNvPr id="6" name="Reliability title 1"/>
          <p:cNvSpPr txBox="1"/>
          <p:nvPr/>
        </p:nvSpPr>
        <p:spPr>
          <a:xfrm>
            <a:off x="1691640" y="169164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elements the way users do</a:t>
            </a:r>
            <a:endParaRPr lang="en-US" sz="2000" dirty="0"/>
          </a:p>
        </p:txBody>
      </p:sp>
      <p:sp>
        <p:nvSpPr>
          <p:cNvPr id="7" name="Reliability list 1"/>
          <p:cNvSpPr txBox="1"/>
          <p:nvPr/>
        </p:nvSpPr>
        <p:spPr>
          <a:xfrm>
            <a:off x="868680" y="2423160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Roles and labels first, never generated IDs or styling classes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Unlabelled questions found through their question text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Dropdown choices picked by option name</a:t>
            </a:r>
            <a:endParaRPr lang="en-US" sz="1500" dirty="0"/>
          </a:p>
        </p:txBody>
      </p:sp>
      <p:sp>
        <p:nvSpPr>
          <p:cNvPr id="8" name="Reliability card 2"/>
          <p:cNvSpPr/>
          <p:nvPr/>
        </p:nvSpPr>
        <p:spPr>
          <a:xfrm>
            <a:off x="6172200" y="1371600"/>
            <a:ext cx="5440680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Reliability 2 circle"/>
          <p:cNvSpPr/>
          <p:nvPr/>
        </p:nvSpPr>
        <p:spPr>
          <a:xfrm>
            <a:off x="6446520" y="16002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Reliability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7970" y="1771650"/>
            <a:ext cx="342900" cy="342900"/>
          </a:xfrm>
          <a:prstGeom prst="rect">
            <a:avLst/>
          </a:prstGeom>
        </p:spPr>
      </p:pic>
      <p:sp>
        <p:nvSpPr>
          <p:cNvPr id="11" name="Reliability title 2"/>
          <p:cNvSpPr txBox="1"/>
          <p:nvPr/>
        </p:nvSpPr>
        <p:spPr>
          <a:xfrm>
            <a:off x="7315200" y="169164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Wait for the app, not the clock</a:t>
            </a:r>
            <a:endParaRPr lang="en-US" sz="2000" dirty="0"/>
          </a:p>
        </p:txBody>
      </p:sp>
      <p:sp>
        <p:nvSpPr>
          <p:cNvPr id="12" name="Reliability list 2"/>
          <p:cNvSpPr txBox="1"/>
          <p:nvPr/>
        </p:nvSpPr>
        <p:spPr>
          <a:xfrm>
            <a:off x="6492240" y="2423160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Wait for save, search and upload responses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Read milestone status only after it settles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Confirm each upload before moving on</a:t>
            </a:r>
            <a:endParaRPr lang="en-US" sz="1500" dirty="0"/>
          </a:p>
        </p:txBody>
      </p:sp>
      <p:sp>
        <p:nvSpPr>
          <p:cNvPr id="13" name="Stat value 1"/>
          <p:cNvSpPr txBox="1"/>
          <p:nvPr/>
        </p:nvSpPr>
        <p:spPr>
          <a:xfrm>
            <a:off x="548640" y="41605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4" name="Stat label 1"/>
          <p:cNvSpPr txBox="1"/>
          <p:nvPr/>
        </p:nvSpPr>
        <p:spPr>
          <a:xfrm>
            <a:off x="548640" y="4892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fixed sleeps in the code</a:t>
            </a:r>
            <a:endParaRPr lang="en-US" sz="1400" dirty="0"/>
          </a:p>
        </p:txBody>
      </p:sp>
      <p:sp>
        <p:nvSpPr>
          <p:cNvPr id="15" name="Stat value 2"/>
          <p:cNvSpPr txBox="1"/>
          <p:nvPr/>
        </p:nvSpPr>
        <p:spPr>
          <a:xfrm>
            <a:off x="4297680" y="41605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000" dirty="0"/>
          </a:p>
        </p:txBody>
      </p:sp>
      <p:sp>
        <p:nvSpPr>
          <p:cNvPr id="16" name="Stat label 2"/>
          <p:cNvSpPr txBox="1"/>
          <p:nvPr/>
        </p:nvSpPr>
        <p:spPr>
          <a:xfrm>
            <a:off x="4297680" y="4892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of locators verified live before coding</a:t>
            </a:r>
            <a:endParaRPr lang="en-US" sz="1400" dirty="0"/>
          </a:p>
        </p:txBody>
      </p:sp>
      <p:sp>
        <p:nvSpPr>
          <p:cNvPr id="17" name="Stat value 3"/>
          <p:cNvSpPr txBox="1"/>
          <p:nvPr/>
        </p:nvSpPr>
        <p:spPr>
          <a:xfrm>
            <a:off x="8046720" y="41605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18" name="Stat label 3"/>
          <p:cNvSpPr txBox="1"/>
          <p:nvPr/>
        </p:nvSpPr>
        <p:spPr>
          <a:xfrm>
            <a:off x="8046720" y="4892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milestones filled and checked complete automatically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Test data and environments</a:t>
            </a:r>
            <a:endParaRPr lang="en-US" sz="3400" dirty="0"/>
          </a:p>
        </p:txBody>
      </p:sp>
      <p:sp>
        <p:nvSpPr>
          <p:cNvPr id="3" name="Data 1 circle"/>
          <p:cNvSpPr/>
          <p:nvPr/>
        </p:nvSpPr>
        <p:spPr>
          <a:xfrm>
            <a:off x="548640" y="14173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Data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1577340"/>
            <a:ext cx="320040" cy="320040"/>
          </a:xfrm>
          <a:prstGeom prst="rect">
            <a:avLst/>
          </a:prstGeom>
        </p:spPr>
      </p:pic>
      <p:sp>
        <p:nvSpPr>
          <p:cNvPr id="5" name="Data title 1"/>
          <p:cNvSpPr txBox="1"/>
          <p:nvPr/>
        </p:nvSpPr>
        <p:spPr>
          <a:xfrm>
            <a:off x="1417320" y="13898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Dedicated accounts per role</a:t>
            </a:r>
            <a:endParaRPr lang="en-US" sz="1700" dirty="0"/>
          </a:p>
        </p:txBody>
      </p:sp>
      <p:sp>
        <p:nvSpPr>
          <p:cNvPr id="6" name="Data desc 1"/>
          <p:cNvSpPr txBox="1"/>
          <p:nvPr/>
        </p:nvSpPr>
        <p:spPr>
          <a:xfrm>
            <a:off x="1417320" y="17556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Credentials kept in a secret store, never in code</a:t>
            </a:r>
            <a:endParaRPr lang="en-US" sz="1400" dirty="0"/>
          </a:p>
        </p:txBody>
      </p:sp>
      <p:sp>
        <p:nvSpPr>
          <p:cNvPr id="7" name="Data 2 circle"/>
          <p:cNvSpPr/>
          <p:nvPr/>
        </p:nvSpPr>
        <p:spPr>
          <a:xfrm>
            <a:off x="548640" y="23317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Data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" y="2491740"/>
            <a:ext cx="320040" cy="320040"/>
          </a:xfrm>
          <a:prstGeom prst="rect">
            <a:avLst/>
          </a:prstGeom>
        </p:spPr>
      </p:pic>
      <p:sp>
        <p:nvSpPr>
          <p:cNvPr id="9" name="Data title 2"/>
          <p:cNvSpPr txBox="1"/>
          <p:nvPr/>
        </p:nvSpPr>
        <p:spPr>
          <a:xfrm>
            <a:off x="1417320" y="23042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Unique run IDs</a:t>
            </a:r>
            <a:endParaRPr lang="en-US" sz="1700" dirty="0"/>
          </a:p>
        </p:txBody>
      </p:sp>
      <p:sp>
        <p:nvSpPr>
          <p:cNvPr id="10" name="Data desc 2"/>
          <p:cNvSpPr txBox="1"/>
          <p:nvPr/>
        </p:nvSpPr>
        <p:spPr>
          <a:xfrm>
            <a:off x="1417320" y="26700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Each created record is tagged, so tests check only their own data</a:t>
            </a:r>
            <a:endParaRPr lang="en-US" sz="1400" dirty="0"/>
          </a:p>
        </p:txBody>
      </p:sp>
      <p:sp>
        <p:nvSpPr>
          <p:cNvPr id="11" name="Data 3 circle"/>
          <p:cNvSpPr/>
          <p:nvPr/>
        </p:nvSpPr>
        <p:spPr>
          <a:xfrm>
            <a:off x="548640" y="32461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Data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3406140"/>
            <a:ext cx="320040" cy="320040"/>
          </a:xfrm>
          <a:prstGeom prst="rect">
            <a:avLst/>
          </a:prstGeom>
        </p:spPr>
      </p:pic>
      <p:sp>
        <p:nvSpPr>
          <p:cNvPr id="13" name="Data title 3"/>
          <p:cNvSpPr txBox="1"/>
          <p:nvPr/>
        </p:nvSpPr>
        <p:spPr>
          <a:xfrm>
            <a:off x="1417320" y="32186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API seeding and clean-up</a:t>
            </a:r>
            <a:endParaRPr lang="en-US" sz="1700" dirty="0"/>
          </a:p>
        </p:txBody>
      </p:sp>
      <p:sp>
        <p:nvSpPr>
          <p:cNvPr id="14" name="Data desc 3"/>
          <p:cNvSpPr txBox="1"/>
          <p:nvPr/>
        </p:nvSpPr>
        <p:spPr>
          <a:xfrm>
            <a:off x="1417320" y="35844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Create start states quickly and archive what tests leave behind</a:t>
            </a:r>
            <a:endParaRPr lang="en-US" sz="1400" dirty="0"/>
          </a:p>
        </p:txBody>
      </p:sp>
      <p:sp>
        <p:nvSpPr>
          <p:cNvPr id="15" name="Data 4 circle"/>
          <p:cNvSpPr/>
          <p:nvPr/>
        </p:nvSpPr>
        <p:spPr>
          <a:xfrm>
            <a:off x="548640" y="41605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Data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" y="4320540"/>
            <a:ext cx="320040" cy="320040"/>
          </a:xfrm>
          <a:prstGeom prst="rect">
            <a:avLst/>
          </a:prstGeom>
        </p:spPr>
      </p:pic>
      <p:sp>
        <p:nvSpPr>
          <p:cNvPr id="17" name="Data title 4"/>
          <p:cNvSpPr txBox="1"/>
          <p:nvPr/>
        </p:nvSpPr>
        <p:spPr>
          <a:xfrm>
            <a:off x="1417320" y="41330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Upload file library</a:t>
            </a:r>
            <a:endParaRPr lang="en-US" sz="1700" dirty="0"/>
          </a:p>
        </p:txBody>
      </p:sp>
      <p:sp>
        <p:nvSpPr>
          <p:cNvPr id="18" name="Data desc 4"/>
          <p:cNvSpPr txBox="1"/>
          <p:nvPr/>
        </p:nvSpPr>
        <p:spPr>
          <a:xfrm>
            <a:off x="1417320" y="44988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PDF, Word, Excel and PNG files under the 10 MB limit</a:t>
            </a:r>
            <a:endParaRPr lang="en-US" sz="1400" dirty="0"/>
          </a:p>
        </p:txBody>
      </p:sp>
      <p:sp>
        <p:nvSpPr>
          <p:cNvPr id="19" name="Data 5 circle"/>
          <p:cNvSpPr/>
          <p:nvPr/>
        </p:nvSpPr>
        <p:spPr>
          <a:xfrm>
            <a:off x="548640" y="50749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Data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" y="5234940"/>
            <a:ext cx="320040" cy="320040"/>
          </a:xfrm>
          <a:prstGeom prst="rect">
            <a:avLst/>
          </a:prstGeom>
        </p:spPr>
      </p:pic>
      <p:sp>
        <p:nvSpPr>
          <p:cNvPr id="21" name="Data title 5"/>
          <p:cNvSpPr txBox="1"/>
          <p:nvPr/>
        </p:nvSpPr>
        <p:spPr>
          <a:xfrm>
            <a:off x="1417320" y="50474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Relative dates</a:t>
            </a:r>
            <a:endParaRPr lang="en-US" sz="1700" dirty="0"/>
          </a:p>
        </p:txBody>
      </p:sp>
      <p:sp>
        <p:nvSpPr>
          <p:cNvPr id="22" name="Data desc 5"/>
          <p:cNvSpPr txBox="1"/>
          <p:nvPr/>
        </p:nvSpPr>
        <p:spPr>
          <a:xfrm>
            <a:off x="1417320" y="54132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Deadlines generated from today, so they never fall in the past</a:t>
            </a:r>
            <a:endParaRPr lang="en-US" sz="1400" dirty="0"/>
          </a:p>
        </p:txBody>
      </p:sp>
      <p:sp>
        <p:nvSpPr>
          <p:cNvPr id="23" name="API card"/>
          <p:cNvSpPr/>
          <p:nvPr/>
        </p:nvSpPr>
        <p:spPr>
          <a:xfrm>
            <a:off x="6766560" y="1371600"/>
            <a:ext cx="4846320" cy="4434840"/>
          </a:xfrm>
          <a:prstGeom prst="roundRect">
            <a:avLst>
              <a:gd name="adj" fmla="val 2474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24" name="API title"/>
          <p:cNvSpPr txBox="1"/>
          <p:nvPr/>
        </p:nvSpPr>
        <p:spPr>
          <a:xfrm>
            <a:off x="7086600" y="16002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App APIs we will use for set-up</a:t>
            </a:r>
            <a:endParaRPr lang="en-US" sz="1800" dirty="0"/>
          </a:p>
        </p:txBody>
      </p:sp>
      <p:sp>
        <p:nvSpPr>
          <p:cNvPr id="25" name="API list"/>
          <p:cNvSpPr txBox="1"/>
          <p:nvPr/>
        </p:nvSpPr>
        <p:spPr>
          <a:xfrm>
            <a:off x="7086600" y="2240280"/>
            <a:ext cx="4297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Search projects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Save milestone answers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Upload documents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Raise queries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Look up people and companies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Read milestone progress</a:t>
            </a:r>
            <a:endParaRPr lang="en-US" sz="1500" dirty="0"/>
          </a:p>
        </p:txBody>
      </p:sp>
      <p:sp>
        <p:nvSpPr>
          <p:cNvPr id="26" name="API note"/>
          <p:cNvSpPr txBox="1"/>
          <p:nvPr/>
        </p:nvSpPr>
        <p:spPr>
          <a:xfrm>
            <a:off x="7086600" y="50749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Observed during exploration; access and documentation to be confirmed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CI/CD and cross-browser coverage</a:t>
            </a:r>
            <a:endParaRPr lang="en-US" sz="3400" dirty="0"/>
          </a:p>
        </p:txBody>
      </p:sp>
      <p:sp>
        <p:nvSpPr>
          <p:cNvPr id="3" name="Pipeline step 1"/>
          <p:cNvSpPr/>
          <p:nvPr/>
        </p:nvSpPr>
        <p:spPr>
          <a:xfrm>
            <a:off x="548640" y="141732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Pipeline 1 circle"/>
          <p:cNvSpPr/>
          <p:nvPr/>
        </p:nvSpPr>
        <p:spPr>
          <a:xfrm>
            <a:off x="1143000" y="1554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Pipeline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3020" y="1714500"/>
            <a:ext cx="320040" cy="320040"/>
          </a:xfrm>
          <a:prstGeom prst="rect">
            <a:avLst/>
          </a:prstGeom>
        </p:spPr>
      </p:pic>
      <p:sp>
        <p:nvSpPr>
          <p:cNvPr id="6" name="Pipeline label 1"/>
          <p:cNvSpPr txBox="1"/>
          <p:nvPr/>
        </p:nvSpPr>
        <p:spPr>
          <a:xfrm>
            <a:off x="640080" y="2286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Pull request</a:t>
            </a:r>
            <a:endParaRPr lang="en-US" sz="1500" dirty="0"/>
          </a:p>
        </p:txBody>
      </p:sp>
      <p:sp>
        <p:nvSpPr>
          <p:cNvPr id="7" name="Pipeline arrow 1"/>
          <p:cNvSpPr/>
          <p:nvPr/>
        </p:nvSpPr>
        <p:spPr>
          <a:xfrm>
            <a:off x="2423160" y="2148840"/>
            <a:ext cx="36576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8" name="Pipeline step 2"/>
          <p:cNvSpPr/>
          <p:nvPr/>
        </p:nvSpPr>
        <p:spPr>
          <a:xfrm>
            <a:off x="2834640" y="141732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Pipeline 2 circle"/>
          <p:cNvSpPr/>
          <p:nvPr/>
        </p:nvSpPr>
        <p:spPr>
          <a:xfrm>
            <a:off x="3429000" y="1554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Pipeline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020" y="1714500"/>
            <a:ext cx="320040" cy="320040"/>
          </a:xfrm>
          <a:prstGeom prst="rect">
            <a:avLst/>
          </a:prstGeom>
        </p:spPr>
      </p:pic>
      <p:sp>
        <p:nvSpPr>
          <p:cNvPr id="11" name="Pipeline label 2"/>
          <p:cNvSpPr txBox="1"/>
          <p:nvPr/>
        </p:nvSpPr>
        <p:spPr>
          <a:xfrm>
            <a:off x="2926080" y="2286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Smoke tests</a:t>
            </a:r>
            <a:endParaRPr lang="en-US" sz="1500" dirty="0"/>
          </a:p>
        </p:txBody>
      </p:sp>
      <p:sp>
        <p:nvSpPr>
          <p:cNvPr id="12" name="Pipeline arrow 2"/>
          <p:cNvSpPr/>
          <p:nvPr/>
        </p:nvSpPr>
        <p:spPr>
          <a:xfrm>
            <a:off x="4709160" y="2148840"/>
            <a:ext cx="36576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3" name="Pipeline step 3"/>
          <p:cNvSpPr/>
          <p:nvPr/>
        </p:nvSpPr>
        <p:spPr>
          <a:xfrm>
            <a:off x="5120640" y="141732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4" name="Pipeline 3 circle"/>
          <p:cNvSpPr/>
          <p:nvPr/>
        </p:nvSpPr>
        <p:spPr>
          <a:xfrm>
            <a:off x="5715000" y="15544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Pipeline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020" y="1714500"/>
            <a:ext cx="320040" cy="320040"/>
          </a:xfrm>
          <a:prstGeom prst="rect">
            <a:avLst/>
          </a:prstGeom>
        </p:spPr>
      </p:pic>
      <p:sp>
        <p:nvSpPr>
          <p:cNvPr id="16" name="Pipeline label 3"/>
          <p:cNvSpPr txBox="1"/>
          <p:nvPr/>
        </p:nvSpPr>
        <p:spPr>
          <a:xfrm>
            <a:off x="5212080" y="2286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Nightly regression</a:t>
            </a:r>
            <a:endParaRPr lang="en-US" sz="1500" dirty="0"/>
          </a:p>
        </p:txBody>
      </p:sp>
      <p:sp>
        <p:nvSpPr>
          <p:cNvPr id="17" name="Pipeline arrow 3"/>
          <p:cNvSpPr/>
          <p:nvPr/>
        </p:nvSpPr>
        <p:spPr>
          <a:xfrm>
            <a:off x="6995160" y="2148840"/>
            <a:ext cx="36576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8" name="Pipeline step 4"/>
          <p:cNvSpPr/>
          <p:nvPr/>
        </p:nvSpPr>
        <p:spPr>
          <a:xfrm>
            <a:off x="7406640" y="141732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9" name="Pipeline 4 circle"/>
          <p:cNvSpPr/>
          <p:nvPr/>
        </p:nvSpPr>
        <p:spPr>
          <a:xfrm>
            <a:off x="8001000" y="1554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Pipeline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1020" y="1714500"/>
            <a:ext cx="320040" cy="320040"/>
          </a:xfrm>
          <a:prstGeom prst="rect">
            <a:avLst/>
          </a:prstGeom>
        </p:spPr>
      </p:pic>
      <p:sp>
        <p:nvSpPr>
          <p:cNvPr id="21" name="Pipeline label 4"/>
          <p:cNvSpPr txBox="1"/>
          <p:nvPr/>
        </p:nvSpPr>
        <p:spPr>
          <a:xfrm>
            <a:off x="7498080" y="2286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Allure report</a:t>
            </a:r>
            <a:endParaRPr lang="en-US" sz="1500" dirty="0"/>
          </a:p>
        </p:txBody>
      </p:sp>
      <p:sp>
        <p:nvSpPr>
          <p:cNvPr id="22" name="Pipeline arrow 4"/>
          <p:cNvSpPr/>
          <p:nvPr/>
        </p:nvSpPr>
        <p:spPr>
          <a:xfrm>
            <a:off x="9281160" y="2148840"/>
            <a:ext cx="36576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3" name="Pipeline step 5"/>
          <p:cNvSpPr/>
          <p:nvPr/>
        </p:nvSpPr>
        <p:spPr>
          <a:xfrm>
            <a:off x="9692640" y="141732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4" name="Pipeline 5 circle"/>
          <p:cNvSpPr/>
          <p:nvPr/>
        </p:nvSpPr>
        <p:spPr>
          <a:xfrm>
            <a:off x="10287000" y="1554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Pipeline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7020" y="1714500"/>
            <a:ext cx="320040" cy="320040"/>
          </a:xfrm>
          <a:prstGeom prst="rect">
            <a:avLst/>
          </a:prstGeom>
        </p:spPr>
      </p:pic>
      <p:sp>
        <p:nvSpPr>
          <p:cNvPr id="26" name="Pipeline label 5"/>
          <p:cNvSpPr txBox="1"/>
          <p:nvPr/>
        </p:nvSpPr>
        <p:spPr>
          <a:xfrm>
            <a:off x="9784080" y="2286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Team notified</a:t>
            </a:r>
            <a:endParaRPr lang="en-US" sz="1500" dirty="0"/>
          </a:p>
        </p:txBody>
      </p:sp>
      <p:graphicFrame>
        <p:nvGraphicFramePr>
          <p:cNvPr id="12" name="Browser matrix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46120"/>
          <a:ext cx="60350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737360"/>
                <a:gridCol w="155448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Browser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Every pull request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Nightly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Chromium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Firefox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WebKit (Safari engine)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Microsoft Edge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8" name="Run profile card"/>
          <p:cNvSpPr/>
          <p:nvPr/>
        </p:nvSpPr>
        <p:spPr>
          <a:xfrm>
            <a:off x="6949440" y="3246120"/>
            <a:ext cx="46634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9" name="Run profile title"/>
          <p:cNvSpPr txBox="1"/>
          <p:nvPr/>
        </p:nvSpPr>
        <p:spPr>
          <a:xfrm>
            <a:off x="7223760" y="33832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Run profile</a:t>
            </a:r>
            <a:endParaRPr lang="en-US" sz="1800" dirty="0"/>
          </a:p>
        </p:txBody>
      </p:sp>
      <p:sp>
        <p:nvSpPr>
          <p:cNvPr id="30" name="Run profile list"/>
          <p:cNvSpPr txBox="1"/>
          <p:nvPr/>
        </p:nvSpPr>
        <p:spPr>
          <a:xfrm>
            <a:off x="7223760" y="3840480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Smoke finishes in under 5 minutes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Nightly runs in parallel workers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Retries only for infrastructure blips, tracked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Traces and screenshots attached to failures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Risks found and how we handle them</a:t>
            </a:r>
            <a:endParaRPr lang="en-US" sz="3400" dirty="0"/>
          </a:p>
        </p:txBody>
      </p:sp>
      <p:graphicFrame>
        <p:nvGraphicFramePr>
          <p:cNvPr id="13" name="Risk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2468880"/>
                <a:gridCol w="502920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Finding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Impact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Mitigation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No test IDs; generated element IDs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Brittle locators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Role and question-based locators; ask devs for data-testid on key controls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Questions not linked to their inputs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Wrong field matched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Scope by question or section text; verified locator catalogue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Progress indicator refreshes after Next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False 'incomplete' reads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Wait for it to settle before reading (in place)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Answers saved only on Next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Lost input, blocked steps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Always save before navigating; handle the leave-page prompt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Test data builds up; duplicate titles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Wrong record picked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Unique run IDs, API clean-up, dedicated test organisation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Multi-role hand-offs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Long, coupled journeys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Session per role; use APIs to reach start states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Phased roadmap</a:t>
            </a:r>
            <a:endParaRPr lang="en-US" sz="3400" dirty="0"/>
          </a:p>
        </p:txBody>
      </p:sp>
      <p:sp>
        <p:nvSpPr>
          <p:cNvPr id="3" name="Done header"/>
          <p:cNvSpPr txBox="1"/>
          <p:nvPr/>
        </p:nvSpPr>
        <p:spPr>
          <a:xfrm>
            <a:off x="3246120" y="13258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Done</a:t>
            </a:r>
            <a:endParaRPr lang="en-US" sz="1200" dirty="0"/>
          </a:p>
        </p:txBody>
      </p:sp>
      <p:sp>
        <p:nvSpPr>
          <p:cNvPr id="4" name="Week 1"/>
          <p:cNvSpPr txBox="1"/>
          <p:nvPr/>
        </p:nvSpPr>
        <p:spPr>
          <a:xfrm>
            <a:off x="4160520" y="1325880"/>
            <a:ext cx="7452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W1</a:t>
            </a:r>
            <a:endParaRPr lang="en-US" sz="1200" dirty="0"/>
          </a:p>
        </p:txBody>
      </p:sp>
      <p:sp>
        <p:nvSpPr>
          <p:cNvPr id="5" name="Week 2"/>
          <p:cNvSpPr txBox="1"/>
          <p:nvPr/>
        </p:nvSpPr>
        <p:spPr>
          <a:xfrm>
            <a:off x="4905756" y="1325880"/>
            <a:ext cx="7452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W2</a:t>
            </a:r>
            <a:endParaRPr lang="en-US" sz="1200" dirty="0"/>
          </a:p>
        </p:txBody>
      </p:sp>
      <p:sp>
        <p:nvSpPr>
          <p:cNvPr id="6" name="Week 3"/>
          <p:cNvSpPr txBox="1"/>
          <p:nvPr/>
        </p:nvSpPr>
        <p:spPr>
          <a:xfrm>
            <a:off x="5650992" y="1325880"/>
            <a:ext cx="7452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W3</a:t>
            </a:r>
            <a:endParaRPr lang="en-US" sz="1200" dirty="0"/>
          </a:p>
        </p:txBody>
      </p:sp>
      <p:sp>
        <p:nvSpPr>
          <p:cNvPr id="7" name="Week 4"/>
          <p:cNvSpPr txBox="1"/>
          <p:nvPr/>
        </p:nvSpPr>
        <p:spPr>
          <a:xfrm>
            <a:off x="6396228" y="1325880"/>
            <a:ext cx="7452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W4</a:t>
            </a:r>
            <a:endParaRPr lang="en-US" sz="1200" dirty="0"/>
          </a:p>
        </p:txBody>
      </p:sp>
      <p:sp>
        <p:nvSpPr>
          <p:cNvPr id="8" name="Week 5"/>
          <p:cNvSpPr txBox="1"/>
          <p:nvPr/>
        </p:nvSpPr>
        <p:spPr>
          <a:xfrm>
            <a:off x="7141464" y="1325880"/>
            <a:ext cx="7452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W5</a:t>
            </a:r>
            <a:endParaRPr lang="en-US" sz="1200" dirty="0"/>
          </a:p>
        </p:txBody>
      </p:sp>
      <p:sp>
        <p:nvSpPr>
          <p:cNvPr id="9" name="Week 6"/>
          <p:cNvSpPr txBox="1"/>
          <p:nvPr/>
        </p:nvSpPr>
        <p:spPr>
          <a:xfrm>
            <a:off x="7886700" y="1325880"/>
            <a:ext cx="7452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W6</a:t>
            </a:r>
            <a:endParaRPr lang="en-US" sz="1200" dirty="0"/>
          </a:p>
        </p:txBody>
      </p:sp>
      <p:sp>
        <p:nvSpPr>
          <p:cNvPr id="10" name="Week 7"/>
          <p:cNvSpPr txBox="1"/>
          <p:nvPr/>
        </p:nvSpPr>
        <p:spPr>
          <a:xfrm>
            <a:off x="8631936" y="1325880"/>
            <a:ext cx="7452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W7</a:t>
            </a:r>
            <a:endParaRPr lang="en-US" sz="1200" dirty="0"/>
          </a:p>
        </p:txBody>
      </p:sp>
      <p:sp>
        <p:nvSpPr>
          <p:cNvPr id="11" name="Week 8"/>
          <p:cNvSpPr txBox="1"/>
          <p:nvPr/>
        </p:nvSpPr>
        <p:spPr>
          <a:xfrm>
            <a:off x="9377172" y="1325880"/>
            <a:ext cx="7452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W8</a:t>
            </a:r>
            <a:endParaRPr lang="en-US" sz="1200" dirty="0"/>
          </a:p>
        </p:txBody>
      </p:sp>
      <p:sp>
        <p:nvSpPr>
          <p:cNvPr id="12" name="Week 9"/>
          <p:cNvSpPr txBox="1"/>
          <p:nvPr/>
        </p:nvSpPr>
        <p:spPr>
          <a:xfrm>
            <a:off x="10122408" y="1325880"/>
            <a:ext cx="7452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W9</a:t>
            </a:r>
            <a:endParaRPr lang="en-US" sz="1200" dirty="0"/>
          </a:p>
        </p:txBody>
      </p:sp>
      <p:sp>
        <p:nvSpPr>
          <p:cNvPr id="13" name="Week 10"/>
          <p:cNvSpPr txBox="1"/>
          <p:nvPr/>
        </p:nvSpPr>
        <p:spPr>
          <a:xfrm>
            <a:off x="10867644" y="1325880"/>
            <a:ext cx="7452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W10</a:t>
            </a:r>
            <a:endParaRPr lang="en-US" sz="1200" dirty="0"/>
          </a:p>
        </p:txBody>
      </p:sp>
      <p:sp>
        <p:nvSpPr>
          <p:cNvPr id="14" name="Phase name 0"/>
          <p:cNvSpPr txBox="1"/>
          <p:nvPr/>
        </p:nvSpPr>
        <p:spPr>
          <a:xfrm>
            <a:off x="548640" y="173736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0  Foundation</a:t>
            </a:r>
            <a:endParaRPr lang="en-US" sz="1600" dirty="0"/>
          </a:p>
        </p:txBody>
      </p:sp>
      <p:sp>
        <p:nvSpPr>
          <p:cNvPr id="15" name="Phase bar 0"/>
          <p:cNvSpPr/>
          <p:nvPr/>
        </p:nvSpPr>
        <p:spPr>
          <a:xfrm>
            <a:off x="3246120" y="1737360"/>
            <a:ext cx="777240" cy="658368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6" name="Phase 0 done circle"/>
          <p:cNvSpPr/>
          <p:nvPr/>
        </p:nvSpPr>
        <p:spPr>
          <a:xfrm>
            <a:off x="3429000" y="185623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Phase 0 don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34156" y="1961388"/>
            <a:ext cx="210312" cy="210312"/>
          </a:xfrm>
          <a:prstGeom prst="rect">
            <a:avLst/>
          </a:prstGeom>
        </p:spPr>
      </p:pic>
      <p:sp>
        <p:nvSpPr>
          <p:cNvPr id="18" name="Phase scope 0"/>
          <p:cNvSpPr txBox="1"/>
          <p:nvPr/>
        </p:nvSpPr>
        <p:spPr>
          <a:xfrm>
            <a:off x="4251960" y="173736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Delivered: framework, login, draft-to-Summary flow, Raise Query</a:t>
            </a:r>
            <a:endParaRPr lang="en-US" sz="1400" dirty="0"/>
          </a:p>
        </p:txBody>
      </p:sp>
      <p:sp>
        <p:nvSpPr>
          <p:cNvPr id="19" name="Phase name 1"/>
          <p:cNvSpPr txBox="1"/>
          <p:nvPr/>
        </p:nvSpPr>
        <p:spPr>
          <a:xfrm>
            <a:off x="548640" y="256032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  Buyer journey</a:t>
            </a:r>
            <a:endParaRPr lang="en-US" sz="1600" dirty="0"/>
          </a:p>
        </p:txBody>
      </p:sp>
      <p:sp>
        <p:nvSpPr>
          <p:cNvPr id="20" name="Phase bar 1"/>
          <p:cNvSpPr/>
          <p:nvPr/>
        </p:nvSpPr>
        <p:spPr>
          <a:xfrm>
            <a:off x="4160520" y="2560320"/>
            <a:ext cx="2162556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1" name="Phase scope 1"/>
          <p:cNvSpPr txBox="1"/>
          <p:nvPr/>
        </p:nvSpPr>
        <p:spPr>
          <a:xfrm>
            <a:off x="4270248" y="2560320"/>
            <a:ext cx="19613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Submit, conditional paths, uploads</a:t>
            </a:r>
            <a:endParaRPr lang="en-US" sz="1200" dirty="0"/>
          </a:p>
        </p:txBody>
      </p:sp>
      <p:sp>
        <p:nvSpPr>
          <p:cNvPr id="22" name="Phase name 2"/>
          <p:cNvSpPr txBox="1"/>
          <p:nvPr/>
        </p:nvSpPr>
        <p:spPr>
          <a:xfrm>
            <a:off x="548640" y="338328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  Multi-role workflow</a:t>
            </a:r>
            <a:endParaRPr lang="en-US" sz="1600" dirty="0"/>
          </a:p>
        </p:txBody>
      </p:sp>
      <p:sp>
        <p:nvSpPr>
          <p:cNvPr id="23" name="Phase bar 2"/>
          <p:cNvSpPr/>
          <p:nvPr/>
        </p:nvSpPr>
        <p:spPr>
          <a:xfrm>
            <a:off x="6396228" y="3383280"/>
            <a:ext cx="2162556" cy="658368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4" name="Phase scope 2"/>
          <p:cNvSpPr txBox="1"/>
          <p:nvPr/>
        </p:nvSpPr>
        <p:spPr>
          <a:xfrm>
            <a:off x="6505956" y="3383280"/>
            <a:ext cx="19613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Approvals, Bloom Ops tasks, status changes</a:t>
            </a:r>
            <a:endParaRPr lang="en-US" sz="1200" dirty="0"/>
          </a:p>
        </p:txBody>
      </p:sp>
      <p:sp>
        <p:nvSpPr>
          <p:cNvPr id="25" name="Phase name 3"/>
          <p:cNvSpPr txBox="1"/>
          <p:nvPr/>
        </p:nvSpPr>
        <p:spPr>
          <a:xfrm>
            <a:off x="548640" y="420624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  Supporting modules</a:t>
            </a:r>
            <a:endParaRPr lang="en-US" sz="1600" dirty="0"/>
          </a:p>
        </p:txBody>
      </p:sp>
      <p:sp>
        <p:nvSpPr>
          <p:cNvPr id="26" name="Phase bar 3"/>
          <p:cNvSpPr/>
          <p:nvPr/>
        </p:nvSpPr>
        <p:spPr>
          <a:xfrm>
            <a:off x="8631936" y="4206240"/>
            <a:ext cx="1417320" cy="658368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7" name="Phase scope 3"/>
          <p:cNvSpPr txBox="1"/>
          <p:nvPr/>
        </p:nvSpPr>
        <p:spPr>
          <a:xfrm>
            <a:off x="8741664" y="4206240"/>
            <a:ext cx="1216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Queries, docs, history, My Org</a:t>
            </a:r>
            <a:endParaRPr lang="en-US" sz="1200" dirty="0"/>
          </a:p>
        </p:txBody>
      </p:sp>
      <p:sp>
        <p:nvSpPr>
          <p:cNvPr id="28" name="Phase name 4"/>
          <p:cNvSpPr txBox="1"/>
          <p:nvPr/>
        </p:nvSpPr>
        <p:spPr>
          <a:xfrm>
            <a:off x="548640" y="502920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  Scale and CI</a:t>
            </a:r>
            <a:endParaRPr lang="en-US" sz="1600" dirty="0"/>
          </a:p>
        </p:txBody>
      </p:sp>
      <p:sp>
        <p:nvSpPr>
          <p:cNvPr id="29" name="Phase bar 4"/>
          <p:cNvSpPr/>
          <p:nvPr/>
        </p:nvSpPr>
        <p:spPr>
          <a:xfrm>
            <a:off x="10122408" y="5029200"/>
            <a:ext cx="1417320" cy="658368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30" name="Phase scope 4"/>
          <p:cNvSpPr txBox="1"/>
          <p:nvPr/>
        </p:nvSpPr>
        <p:spPr>
          <a:xfrm>
            <a:off x="10232136" y="5029200"/>
            <a:ext cx="1216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Pipeline, browsers, API data</a:t>
            </a:r>
            <a:endParaRPr lang="en-US" sz="1200" dirty="0"/>
          </a:p>
        </p:txBody>
      </p:sp>
      <p:sp>
        <p:nvSpPr>
          <p:cNvPr id="31" name="Roadmap note"/>
          <p:cNvSpPr txBox="1"/>
          <p:nvPr/>
        </p:nvSpPr>
        <p:spPr>
          <a:xfrm>
            <a:off x="548640" y="58978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Indicative timeline from client approval — to be confirmed once role accounts and test-data policy are in place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5029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Where we are and what we need</a:t>
            </a:r>
            <a:endParaRPr lang="en-US" sz="3600" dirty="0"/>
          </a:p>
        </p:txBody>
      </p:sp>
      <p:sp>
        <p:nvSpPr>
          <p:cNvPr id="3" name="Progress title"/>
          <p:cNvSpPr txBox="1"/>
          <p:nvPr/>
        </p:nvSpPr>
        <p:spPr>
          <a:xfrm>
            <a:off x="731520" y="16002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Delivered in Phase 0</a:t>
            </a:r>
            <a:endParaRPr lang="en-US" sz="2000" dirty="0"/>
          </a:p>
        </p:txBody>
      </p:sp>
      <p:sp>
        <p:nvSpPr>
          <p:cNvPr id="4" name="Done 1 circle"/>
          <p:cNvSpPr/>
          <p:nvPr/>
        </p:nvSpPr>
        <p:spPr>
          <a:xfrm>
            <a:off x="731520" y="21945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Done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390" y="2297430"/>
            <a:ext cx="205740" cy="205740"/>
          </a:xfrm>
          <a:prstGeom prst="rect">
            <a:avLst/>
          </a:prstGeom>
        </p:spPr>
      </p:pic>
      <p:sp>
        <p:nvSpPr>
          <p:cNvPr id="6" name="Done item 1"/>
          <p:cNvSpPr txBox="1"/>
          <p:nvPr/>
        </p:nvSpPr>
        <p:spPr>
          <a:xfrm>
            <a:off x="1325880" y="21945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Framework, coding standard and reporting</a:t>
            </a:r>
            <a:endParaRPr lang="en-US" sz="1500" dirty="0"/>
          </a:p>
        </p:txBody>
      </p:sp>
      <p:sp>
        <p:nvSpPr>
          <p:cNvPr id="7" name="Done 2 circle"/>
          <p:cNvSpPr/>
          <p:nvPr/>
        </p:nvSpPr>
        <p:spPr>
          <a:xfrm>
            <a:off x="731520" y="28803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Done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390" y="2983230"/>
            <a:ext cx="205740" cy="205740"/>
          </a:xfrm>
          <a:prstGeom prst="rect">
            <a:avLst/>
          </a:prstGeom>
        </p:spPr>
      </p:pic>
      <p:sp>
        <p:nvSpPr>
          <p:cNvPr id="9" name="Done item 2"/>
          <p:cNvSpPr txBox="1"/>
          <p:nvPr/>
        </p:nvSpPr>
        <p:spPr>
          <a:xfrm>
            <a:off x="1325880" y="28803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Login for the Project Owner</a:t>
            </a:r>
            <a:endParaRPr lang="en-US" sz="1500" dirty="0"/>
          </a:p>
        </p:txBody>
      </p:sp>
      <p:sp>
        <p:nvSpPr>
          <p:cNvPr id="10" name="Done 3 circle"/>
          <p:cNvSpPr/>
          <p:nvPr/>
        </p:nvSpPr>
        <p:spPr>
          <a:xfrm>
            <a:off x="731520" y="35661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Done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0" y="3669030"/>
            <a:ext cx="205740" cy="205740"/>
          </a:xfrm>
          <a:prstGeom prst="rect">
            <a:avLst/>
          </a:prstGeom>
        </p:spPr>
      </p:pic>
      <p:sp>
        <p:nvSpPr>
          <p:cNvPr id="12" name="Done item 3"/>
          <p:cNvSpPr txBox="1"/>
          <p:nvPr/>
        </p:nvSpPr>
        <p:spPr>
          <a:xfrm>
            <a:off x="1325880" y="35661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Create a draft and find it again</a:t>
            </a:r>
            <a:endParaRPr lang="en-US" sz="1500" dirty="0"/>
          </a:p>
        </p:txBody>
      </p:sp>
      <p:sp>
        <p:nvSpPr>
          <p:cNvPr id="13" name="Done 4 circle"/>
          <p:cNvSpPr/>
          <p:nvPr/>
        </p:nvSpPr>
        <p:spPr>
          <a:xfrm>
            <a:off x="731520" y="42519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Done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390" y="4354830"/>
            <a:ext cx="205740" cy="205740"/>
          </a:xfrm>
          <a:prstGeom prst="rect">
            <a:avLst/>
          </a:prstGeom>
        </p:spPr>
      </p:pic>
      <p:sp>
        <p:nvSpPr>
          <p:cNvPr id="15" name="Done item 4"/>
          <p:cNvSpPr txBox="1"/>
          <p:nvPr/>
        </p:nvSpPr>
        <p:spPr>
          <a:xfrm>
            <a:off x="1325880" y="42519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All milestones filled and verified up to Summary</a:t>
            </a:r>
            <a:endParaRPr lang="en-US" sz="1500" dirty="0"/>
          </a:p>
        </p:txBody>
      </p:sp>
      <p:sp>
        <p:nvSpPr>
          <p:cNvPr id="16" name="Done 5 circle"/>
          <p:cNvSpPr/>
          <p:nvPr/>
        </p:nvSpPr>
        <p:spPr>
          <a:xfrm>
            <a:off x="731520" y="49377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Done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390" y="5040630"/>
            <a:ext cx="205740" cy="205740"/>
          </a:xfrm>
          <a:prstGeom prst="rect">
            <a:avLst/>
          </a:prstGeom>
        </p:spPr>
      </p:pic>
      <p:sp>
        <p:nvSpPr>
          <p:cNvPr id="18" name="Done item 5"/>
          <p:cNvSpPr txBox="1"/>
          <p:nvPr/>
        </p:nvSpPr>
        <p:spPr>
          <a:xfrm>
            <a:off x="1325880" y="49377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Raise Query with success checks</a:t>
            </a:r>
            <a:endParaRPr lang="en-US" sz="1500" dirty="0"/>
          </a:p>
        </p:txBody>
      </p:sp>
      <p:sp>
        <p:nvSpPr>
          <p:cNvPr id="19" name="Asks title"/>
          <p:cNvSpPr txBox="1"/>
          <p:nvPr/>
        </p:nvSpPr>
        <p:spPr>
          <a:xfrm>
            <a:off x="6492240" y="16002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What we need from you</a:t>
            </a:r>
            <a:endParaRPr lang="en-US" sz="2000" dirty="0"/>
          </a:p>
        </p:txBody>
      </p:sp>
      <p:sp>
        <p:nvSpPr>
          <p:cNvPr id="20" name="Ask number bg 1"/>
          <p:cNvSpPr/>
          <p:nvPr/>
        </p:nvSpPr>
        <p:spPr>
          <a:xfrm>
            <a:off x="6492240" y="2194560"/>
            <a:ext cx="411480" cy="411480"/>
          </a:xfrm>
          <a:prstGeom prst="roundRect">
            <a:avLst>
              <a:gd name="adj" fmla="val 26667"/>
            </a:avLst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1" name="Ask number 1"/>
          <p:cNvSpPr txBox="1"/>
          <p:nvPr/>
        </p:nvSpPr>
        <p:spPr>
          <a:xfrm>
            <a:off x="6492240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1</a:t>
            </a:r>
            <a:endParaRPr lang="en-US" sz="1500" dirty="0"/>
          </a:p>
        </p:txBody>
      </p:sp>
      <p:sp>
        <p:nvSpPr>
          <p:cNvPr id="22" name="Ask item 1"/>
          <p:cNvSpPr txBox="1"/>
          <p:nvPr/>
        </p:nvSpPr>
        <p:spPr>
          <a:xfrm>
            <a:off x="7086600" y="21945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Test accounts for every role</a:t>
            </a:r>
            <a:endParaRPr lang="en-US" sz="1500" dirty="0"/>
          </a:p>
        </p:txBody>
      </p:sp>
      <p:sp>
        <p:nvSpPr>
          <p:cNvPr id="23" name="Ask number bg 2"/>
          <p:cNvSpPr/>
          <p:nvPr/>
        </p:nvSpPr>
        <p:spPr>
          <a:xfrm>
            <a:off x="6492240" y="2880360"/>
            <a:ext cx="411480" cy="411480"/>
          </a:xfrm>
          <a:prstGeom prst="roundRect">
            <a:avLst>
              <a:gd name="adj" fmla="val 26667"/>
            </a:avLst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4" name="Ask number 2"/>
          <p:cNvSpPr txBox="1"/>
          <p:nvPr/>
        </p:nvSpPr>
        <p:spPr>
          <a:xfrm>
            <a:off x="649224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2</a:t>
            </a:r>
            <a:endParaRPr lang="en-US" sz="1500" dirty="0"/>
          </a:p>
        </p:txBody>
      </p:sp>
      <p:sp>
        <p:nvSpPr>
          <p:cNvPr id="25" name="Ask item 2"/>
          <p:cNvSpPr txBox="1"/>
          <p:nvPr/>
        </p:nvSpPr>
        <p:spPr>
          <a:xfrm>
            <a:off x="7086600" y="28803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Agreement on test-data clean-up</a:t>
            </a:r>
            <a:endParaRPr lang="en-US" sz="1500" dirty="0"/>
          </a:p>
        </p:txBody>
      </p:sp>
      <p:sp>
        <p:nvSpPr>
          <p:cNvPr id="26" name="Ask number bg 3"/>
          <p:cNvSpPr/>
          <p:nvPr/>
        </p:nvSpPr>
        <p:spPr>
          <a:xfrm>
            <a:off x="6492240" y="3566160"/>
            <a:ext cx="411480" cy="411480"/>
          </a:xfrm>
          <a:prstGeom prst="roundRect">
            <a:avLst>
              <a:gd name="adj" fmla="val 26667"/>
            </a:avLst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7" name="Ask number 3"/>
          <p:cNvSpPr txBox="1"/>
          <p:nvPr/>
        </p:nvSpPr>
        <p:spPr>
          <a:xfrm>
            <a:off x="6492240" y="3566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3</a:t>
            </a:r>
            <a:endParaRPr lang="en-US" sz="1500" dirty="0"/>
          </a:p>
        </p:txBody>
      </p:sp>
      <p:sp>
        <p:nvSpPr>
          <p:cNvPr id="28" name="Ask item 3"/>
          <p:cNvSpPr txBox="1"/>
          <p:nvPr/>
        </p:nvSpPr>
        <p:spPr>
          <a:xfrm>
            <a:off x="7086600" y="35661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API access and documentation</a:t>
            </a:r>
            <a:endParaRPr lang="en-US" sz="1500" dirty="0"/>
          </a:p>
        </p:txBody>
      </p:sp>
      <p:sp>
        <p:nvSpPr>
          <p:cNvPr id="29" name="Ask number bg 4"/>
          <p:cNvSpPr/>
          <p:nvPr/>
        </p:nvSpPr>
        <p:spPr>
          <a:xfrm>
            <a:off x="6492240" y="4251960"/>
            <a:ext cx="411480" cy="411480"/>
          </a:xfrm>
          <a:prstGeom prst="roundRect">
            <a:avLst>
              <a:gd name="adj" fmla="val 26667"/>
            </a:avLst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30" name="Ask number 4"/>
          <p:cNvSpPr txBox="1"/>
          <p:nvPr/>
        </p:nvSpPr>
        <p:spPr>
          <a:xfrm>
            <a:off x="6492240" y="4251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4</a:t>
            </a:r>
            <a:endParaRPr lang="en-US" sz="1500" dirty="0"/>
          </a:p>
        </p:txBody>
      </p:sp>
      <p:sp>
        <p:nvSpPr>
          <p:cNvPr id="31" name="Ask item 4"/>
          <p:cNvSpPr txBox="1"/>
          <p:nvPr/>
        </p:nvSpPr>
        <p:spPr>
          <a:xfrm>
            <a:off x="7086600" y="42519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data-testid on key form controls</a:t>
            </a:r>
            <a:endParaRPr lang="en-US" sz="1500" dirty="0"/>
          </a:p>
        </p:txBody>
      </p:sp>
      <p:sp>
        <p:nvSpPr>
          <p:cNvPr id="32" name="Ask number bg 5"/>
          <p:cNvSpPr/>
          <p:nvPr/>
        </p:nvSpPr>
        <p:spPr>
          <a:xfrm>
            <a:off x="6492240" y="4937760"/>
            <a:ext cx="411480" cy="411480"/>
          </a:xfrm>
          <a:prstGeom prst="roundRect">
            <a:avLst>
              <a:gd name="adj" fmla="val 26667"/>
            </a:avLst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33" name="Ask number 5"/>
          <p:cNvSpPr txBox="1"/>
          <p:nvPr/>
        </p:nvSpPr>
        <p:spPr>
          <a:xfrm>
            <a:off x="6492240" y="4937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5</a:t>
            </a:r>
            <a:endParaRPr lang="en-US" sz="1500" dirty="0"/>
          </a:p>
        </p:txBody>
      </p:sp>
      <p:sp>
        <p:nvSpPr>
          <p:cNvPr id="34" name="Ask item 5"/>
          <p:cNvSpPr txBox="1"/>
          <p:nvPr/>
        </p:nvSpPr>
        <p:spPr>
          <a:xfrm>
            <a:off x="7086600" y="49377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CI platform and alert channel</a:t>
            </a:r>
            <a:endParaRPr lang="en-US" sz="1500" dirty="0"/>
          </a:p>
        </p:txBody>
      </p:sp>
      <p:sp>
        <p:nvSpPr>
          <p:cNvPr id="35" name="Next step"/>
          <p:cNvSpPr txBox="1"/>
          <p:nvPr/>
        </p:nvSpPr>
        <p:spPr>
          <a:xfrm>
            <a:off x="731520" y="58064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Next step: approve the roadmap and these five items, and Phase 1 starts straight away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oom Evergreen">
  <a:themeElements>
    <a:clrScheme name="Bloom Evergreen">
      <a:dk1>
        <a:srgbClr val="1B2A2F"/>
      </a:dk1>
      <a:lt1>
        <a:srgbClr val="FFFFFF"/>
      </a:lt1>
      <a:dk2>
        <a:srgbClr val="0E3B34"/>
      </a:dk2>
      <a:lt2>
        <a:srgbClr val="EEF5F1"/>
      </a:lt2>
      <a:accent1>
        <a:srgbClr val="1F7A63"/>
      </a:accent1>
      <a:accent2>
        <a:srgbClr val="F2A93B"/>
      </a:accent2>
      <a:accent3>
        <a:srgbClr val="3A6EA5"/>
      </a:accent3>
      <a:accent4>
        <a:srgbClr val="C8553D"/>
      </a:accent4>
      <a:accent5>
        <a:srgbClr val="A8D5C2"/>
      </a:accent5>
      <a:accent6>
        <a:srgbClr val="5B6770"/>
      </a:accent6>
      <a:hlink>
        <a:srgbClr val="1F7A63"/>
      </a:hlink>
      <a:folHlink>
        <a:srgbClr val="5B6770"/>
      </a:folHlink>
    </a:clrScheme>
    <a:fontScheme name="Bloom Evergree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Bloom Elevate Marketplace - Test Automation Strategy</dc:title>
  <dc:subject>PptxGenJS Presentation</dc:subject>
  <dc:creator>QA Automation</dc:creator>
  <cp:lastModifiedBy>QA Automation</cp:lastModifiedBy>
  <cp:revision>1</cp:revision>
  <dcterms:created xsi:type="dcterms:W3CDTF">2026-10-08T08:33:19Z</dcterms:created>
  <dcterms:modified xsi:type="dcterms:W3CDTF">2026-10-08T08:33:19Z</dcterms:modified>
</cp:coreProperties>
</file>